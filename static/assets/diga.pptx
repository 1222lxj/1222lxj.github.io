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 id="2147483725" r:id="rId2"/>
    <p:sldMasterId id="2147483722" r:id="rId3"/>
    <p:sldMasterId id="2147483756" r:id="rId4"/>
    <p:sldMasterId id="2147483760" r:id="rId5"/>
  </p:sldMasterIdLst>
  <p:notesMasterIdLst>
    <p:notesMasterId r:id="rId9"/>
  </p:notesMasterIdLst>
  <p:sldIdLst>
    <p:sldId id="6166" r:id="rId6"/>
    <p:sldId id="6169" r:id="rId7"/>
    <p:sldId id="6170" r:id="rId8"/>
  </p:sldIdLst>
  <p:sldSz cx="12192000" cy="6858000"/>
  <p:notesSz cx="6858000" cy="9144000"/>
  <p:defaultTextStyle>
    <a:defPPr>
      <a:defRPr lang="zh-CN"/>
    </a:defPPr>
    <a:lvl1pPr marL="0" algn="l" defTabSz="914395" rtl="0" eaLnBrk="1" latinLnBrk="0" hangingPunct="1">
      <a:defRPr sz="1801" kern="1200">
        <a:solidFill>
          <a:schemeClr val="tx1"/>
        </a:solidFill>
        <a:latin typeface="+mn-lt"/>
        <a:ea typeface="+mn-ea"/>
        <a:cs typeface="+mn-cs"/>
      </a:defRPr>
    </a:lvl1pPr>
    <a:lvl2pPr marL="457196" algn="l" defTabSz="914395" rtl="0" eaLnBrk="1" latinLnBrk="0" hangingPunct="1">
      <a:defRPr sz="1801" kern="1200">
        <a:solidFill>
          <a:schemeClr val="tx1"/>
        </a:solidFill>
        <a:latin typeface="+mn-lt"/>
        <a:ea typeface="+mn-ea"/>
        <a:cs typeface="+mn-cs"/>
      </a:defRPr>
    </a:lvl2pPr>
    <a:lvl3pPr marL="914395" algn="l" defTabSz="914395" rtl="0" eaLnBrk="1" latinLnBrk="0" hangingPunct="1">
      <a:defRPr sz="1801" kern="1200">
        <a:solidFill>
          <a:schemeClr val="tx1"/>
        </a:solidFill>
        <a:latin typeface="+mn-lt"/>
        <a:ea typeface="+mn-ea"/>
        <a:cs typeface="+mn-cs"/>
      </a:defRPr>
    </a:lvl3pPr>
    <a:lvl4pPr marL="1371591" algn="l" defTabSz="914395" rtl="0" eaLnBrk="1" latinLnBrk="0" hangingPunct="1">
      <a:defRPr sz="1801" kern="1200">
        <a:solidFill>
          <a:schemeClr val="tx1"/>
        </a:solidFill>
        <a:latin typeface="+mn-lt"/>
        <a:ea typeface="+mn-ea"/>
        <a:cs typeface="+mn-cs"/>
      </a:defRPr>
    </a:lvl4pPr>
    <a:lvl5pPr marL="1828789" algn="l" defTabSz="914395" rtl="0" eaLnBrk="1" latinLnBrk="0" hangingPunct="1">
      <a:defRPr sz="1801" kern="1200">
        <a:solidFill>
          <a:schemeClr val="tx1"/>
        </a:solidFill>
        <a:latin typeface="+mn-lt"/>
        <a:ea typeface="+mn-ea"/>
        <a:cs typeface="+mn-cs"/>
      </a:defRPr>
    </a:lvl5pPr>
    <a:lvl6pPr marL="2285985" algn="l" defTabSz="914395" rtl="0" eaLnBrk="1" latinLnBrk="0" hangingPunct="1">
      <a:defRPr sz="1801" kern="1200">
        <a:solidFill>
          <a:schemeClr val="tx1"/>
        </a:solidFill>
        <a:latin typeface="+mn-lt"/>
        <a:ea typeface="+mn-ea"/>
        <a:cs typeface="+mn-cs"/>
      </a:defRPr>
    </a:lvl6pPr>
    <a:lvl7pPr marL="2743182" algn="l" defTabSz="914395" rtl="0" eaLnBrk="1" latinLnBrk="0" hangingPunct="1">
      <a:defRPr sz="1801" kern="1200">
        <a:solidFill>
          <a:schemeClr val="tx1"/>
        </a:solidFill>
        <a:latin typeface="+mn-lt"/>
        <a:ea typeface="+mn-ea"/>
        <a:cs typeface="+mn-cs"/>
      </a:defRPr>
    </a:lvl7pPr>
    <a:lvl8pPr marL="3200380" algn="l" defTabSz="914395" rtl="0" eaLnBrk="1" latinLnBrk="0" hangingPunct="1">
      <a:defRPr sz="1801" kern="1200">
        <a:solidFill>
          <a:schemeClr val="tx1"/>
        </a:solidFill>
        <a:latin typeface="+mn-lt"/>
        <a:ea typeface="+mn-ea"/>
        <a:cs typeface="+mn-cs"/>
      </a:defRPr>
    </a:lvl8pPr>
    <a:lvl9pPr marL="3657576" algn="l" defTabSz="914395"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368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ald Kruit" initials="RK" lastIdx="1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6F8"/>
    <a:srgbClr val="799DC2"/>
    <a:srgbClr val="448BBD"/>
    <a:srgbClr val="6AAC05"/>
    <a:srgbClr val="221E20"/>
    <a:srgbClr val="9542D6"/>
    <a:srgbClr val="FFC735"/>
    <a:srgbClr val="5399DA"/>
    <a:srgbClr val="70B243"/>
    <a:srgbClr val="0539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62" autoAdjust="0"/>
    <p:restoredTop sz="96143" autoAdjust="0"/>
  </p:normalViewPr>
  <p:slideViewPr>
    <p:cSldViewPr snapToGrid="0">
      <p:cViewPr>
        <p:scale>
          <a:sx n="82" d="100"/>
          <a:sy n="82" d="100"/>
        </p:scale>
        <p:origin x="1536" y="1032"/>
      </p:cViewPr>
      <p:guideLst>
        <p:guide orient="horz" pos="2153"/>
        <p:guide pos="3685"/>
      </p:guideLst>
    </p:cSldViewPr>
  </p:slideViewPr>
  <p:notesTextViewPr>
    <p:cViewPr>
      <p:scale>
        <a:sx n="140" d="100"/>
        <a:sy n="140" d="100"/>
      </p:scale>
      <p:origin x="0" y="0"/>
    </p:cViewPr>
  </p:notesTextViewPr>
  <p:sorterViewPr>
    <p:cViewPr>
      <p:scale>
        <a:sx n="80" d="100"/>
        <a:sy n="80" d="100"/>
      </p:scale>
      <p:origin x="0" y="0"/>
    </p:cViewPr>
  </p:sorterViewPr>
  <p:notesViewPr>
    <p:cSldViewPr snapToGrid="0">
      <p:cViewPr varScale="1">
        <p:scale>
          <a:sx n="69" d="100"/>
          <a:sy n="69" d="100"/>
        </p:scale>
        <p:origin x="326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ACF195-F196-4738-B64E-99FCDD70813F}"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380C0-E853-4EA6-B355-5260502B4B7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395" rtl="0" eaLnBrk="1" latinLnBrk="0" hangingPunct="1">
      <a:defRPr sz="1199" kern="1200">
        <a:solidFill>
          <a:schemeClr val="tx1"/>
        </a:solidFill>
        <a:latin typeface="+mn-lt"/>
        <a:ea typeface="+mn-ea"/>
        <a:cs typeface="+mn-cs"/>
      </a:defRPr>
    </a:lvl1pPr>
    <a:lvl2pPr marL="457196" algn="l" defTabSz="914395" rtl="0" eaLnBrk="1" latinLnBrk="0" hangingPunct="1">
      <a:defRPr sz="1199" kern="1200">
        <a:solidFill>
          <a:schemeClr val="tx1"/>
        </a:solidFill>
        <a:latin typeface="+mn-lt"/>
        <a:ea typeface="+mn-ea"/>
        <a:cs typeface="+mn-cs"/>
      </a:defRPr>
    </a:lvl2pPr>
    <a:lvl3pPr marL="914395" algn="l" defTabSz="914395" rtl="0" eaLnBrk="1" latinLnBrk="0" hangingPunct="1">
      <a:defRPr sz="1199" kern="1200">
        <a:solidFill>
          <a:schemeClr val="tx1"/>
        </a:solidFill>
        <a:latin typeface="+mn-lt"/>
        <a:ea typeface="+mn-ea"/>
        <a:cs typeface="+mn-cs"/>
      </a:defRPr>
    </a:lvl3pPr>
    <a:lvl4pPr marL="1371591" algn="l" defTabSz="914395" rtl="0" eaLnBrk="1" latinLnBrk="0" hangingPunct="1">
      <a:defRPr sz="1199" kern="1200">
        <a:solidFill>
          <a:schemeClr val="tx1"/>
        </a:solidFill>
        <a:latin typeface="+mn-lt"/>
        <a:ea typeface="+mn-ea"/>
        <a:cs typeface="+mn-cs"/>
      </a:defRPr>
    </a:lvl4pPr>
    <a:lvl5pPr marL="1828789" algn="l" defTabSz="914395" rtl="0" eaLnBrk="1" latinLnBrk="0" hangingPunct="1">
      <a:defRPr sz="1199" kern="1200">
        <a:solidFill>
          <a:schemeClr val="tx1"/>
        </a:solidFill>
        <a:latin typeface="+mn-lt"/>
        <a:ea typeface="+mn-ea"/>
        <a:cs typeface="+mn-cs"/>
      </a:defRPr>
    </a:lvl5pPr>
    <a:lvl6pPr marL="2285985" algn="l" defTabSz="914395" rtl="0" eaLnBrk="1" latinLnBrk="0" hangingPunct="1">
      <a:defRPr sz="1199" kern="1200">
        <a:solidFill>
          <a:schemeClr val="tx1"/>
        </a:solidFill>
        <a:latin typeface="+mn-lt"/>
        <a:ea typeface="+mn-ea"/>
        <a:cs typeface="+mn-cs"/>
      </a:defRPr>
    </a:lvl6pPr>
    <a:lvl7pPr marL="2743182" algn="l" defTabSz="914395" rtl="0" eaLnBrk="1" latinLnBrk="0" hangingPunct="1">
      <a:defRPr sz="1199" kern="1200">
        <a:solidFill>
          <a:schemeClr val="tx1"/>
        </a:solidFill>
        <a:latin typeface="+mn-lt"/>
        <a:ea typeface="+mn-ea"/>
        <a:cs typeface="+mn-cs"/>
      </a:defRPr>
    </a:lvl7pPr>
    <a:lvl8pPr marL="3200380" algn="l" defTabSz="914395" rtl="0" eaLnBrk="1" latinLnBrk="0" hangingPunct="1">
      <a:defRPr sz="1199" kern="1200">
        <a:solidFill>
          <a:schemeClr val="tx1"/>
        </a:solidFill>
        <a:latin typeface="+mn-lt"/>
        <a:ea typeface="+mn-ea"/>
        <a:cs typeface="+mn-cs"/>
      </a:defRPr>
    </a:lvl8pPr>
    <a:lvl9pPr marL="3657576" algn="l" defTabSz="914395"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第二部找到图上每个节点即用户的关键特征</a:t>
            </a:r>
          </a:p>
        </p:txBody>
      </p:sp>
      <p:sp>
        <p:nvSpPr>
          <p:cNvPr id="4" name="灯片编号占位符 3"/>
          <p:cNvSpPr>
            <a:spLocks noGrp="1"/>
          </p:cNvSpPr>
          <p:nvPr>
            <p:ph type="sldNum" sz="quarter" idx="5"/>
          </p:nvPr>
        </p:nvSpPr>
        <p:spPr/>
        <p:txBody>
          <a:bodyPr/>
          <a:lstStyle/>
          <a:p>
            <a:fld id="{9AA380C0-E853-4EA6-B355-5260502B4B79}" type="slidenum">
              <a:rPr lang="zh-CN" altLang="en-US" smtClean="0"/>
              <a:t>1</a:t>
            </a:fld>
            <a:endParaRPr lang="zh-CN" altLang="en-US"/>
          </a:p>
        </p:txBody>
      </p:sp>
    </p:spTree>
    <p:extLst>
      <p:ext uri="{BB962C8B-B14F-4D97-AF65-F5344CB8AC3E}">
        <p14:creationId xmlns:p14="http://schemas.microsoft.com/office/powerpoint/2010/main" val="489145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effectLst/>
                <a:latin typeface="LinLibertineT"/>
              </a:rPr>
              <a:t>检测方法：</a:t>
            </a:r>
            <a:endParaRPr lang="en-US" altLang="zh-CN" sz="1200" dirty="0">
              <a:effectLst/>
              <a:latin typeface="LinLibertineT"/>
            </a:endParaRPr>
          </a:p>
          <a:p>
            <a:r>
              <a:rPr lang="en-US" altLang="zh-CN" sz="1200" dirty="0">
                <a:effectLst/>
                <a:latin typeface="LinLibertineT"/>
              </a:rPr>
              <a:t>Firstly, </a:t>
            </a:r>
            <a:r>
              <a:rPr lang="en-US" altLang="zh-CN" sz="1200" dirty="0">
                <a:effectLst/>
                <a:latin typeface="LinLibertineTB"/>
              </a:rPr>
              <a:t>the subgraph sampler </a:t>
            </a:r>
            <a:r>
              <a:rPr lang="en-US" altLang="zh-CN" sz="1200" dirty="0">
                <a:effectLst/>
                <a:latin typeface="LinLibertineT"/>
              </a:rPr>
              <a:t>extracts the most-informative neighbors of each user account and constructs an adaptive subgraph surrounding it. We can treat each subgraph as an independent training sample and solve the problem on the subgraph level. </a:t>
            </a:r>
          </a:p>
          <a:p>
            <a:endParaRPr lang="en-US" altLang="zh-CN" sz="1200" dirty="0">
              <a:effectLst/>
              <a:latin typeface="LinLibertineT"/>
            </a:endParaRPr>
          </a:p>
          <a:p>
            <a:r>
              <a:rPr lang="en-US" altLang="zh-CN" sz="1200" dirty="0">
                <a:effectLst/>
                <a:latin typeface="LinLibertineT"/>
              </a:rPr>
              <a:t>Secondly, these subgraphs are treated as original graphs being fed into </a:t>
            </a:r>
            <a:r>
              <a:rPr lang="en-US" altLang="zh-CN" sz="1200" dirty="0">
                <a:effectLst/>
                <a:latin typeface="LinLibertineTB"/>
              </a:rPr>
              <a:t>the guided diffusion module</a:t>
            </a:r>
            <a:r>
              <a:rPr lang="en-US" altLang="zh-CN" sz="1200" dirty="0">
                <a:effectLst/>
                <a:latin typeface="LinLibertineT"/>
              </a:rPr>
              <a:t>, which is intended to recover an arbitrary subgraph to an anomaly-free version. </a:t>
            </a:r>
          </a:p>
          <a:p>
            <a:endParaRPr lang="en-US" altLang="zh-CN" sz="1200" dirty="0">
              <a:effectLst/>
              <a:latin typeface="LinLibertineT"/>
            </a:endParaRPr>
          </a:p>
          <a:p>
            <a:r>
              <a:rPr lang="en-US" altLang="zh-CN" sz="1200" dirty="0">
                <a:effectLst/>
                <a:latin typeface="LinLibertineT"/>
              </a:rPr>
              <a:t>The diffusion module injects a series of noise from a normal distribution iteratively onto the original subgraph in the forward diffusion process. Then in the reversed denoising processing, the denoising GNN network predicts the injected noise to reconstruct the graph. </a:t>
            </a:r>
          </a:p>
          <a:p>
            <a:endParaRPr lang="en-US" altLang="zh-CN" sz="1200" dirty="0">
              <a:effectLst/>
              <a:latin typeface="LinLibertineT"/>
            </a:endParaRPr>
          </a:p>
          <a:p>
            <a:r>
              <a:rPr lang="en-US" altLang="zh-CN" sz="1200" dirty="0">
                <a:effectLst/>
                <a:latin typeface="LinLibertineT"/>
              </a:rPr>
              <a:t>In addition, a novel graph classifier is designed to guide the recovering direction towards a “healthy” subgraph by revising the predicted noise in the denoising process. </a:t>
            </a:r>
          </a:p>
          <a:p>
            <a:endParaRPr lang="en-US" altLang="zh-CN" sz="1200" dirty="0">
              <a:effectLst/>
              <a:latin typeface="LinLibertineT"/>
            </a:endParaRPr>
          </a:p>
          <a:p>
            <a:r>
              <a:rPr lang="en-US" altLang="zh-CN" sz="1200" dirty="0">
                <a:effectLst/>
                <a:latin typeface="LinLibertineT"/>
              </a:rPr>
              <a:t>The guiding classifier ensures that only suspicious regions are changed, while the rest of the subgraph, the normal part, remains unchanged. </a:t>
            </a:r>
          </a:p>
          <a:p>
            <a:endParaRPr lang="en-US" altLang="zh-CN" sz="1200" dirty="0">
              <a:effectLst/>
              <a:latin typeface="LinLibertineT"/>
            </a:endParaRPr>
          </a:p>
          <a:p>
            <a:r>
              <a:rPr lang="en-US" altLang="zh-CN" sz="1200" dirty="0">
                <a:effectLst/>
                <a:latin typeface="LinLibertineT"/>
              </a:rPr>
              <a:t>Eventually, in AML detecting, the reconstruction error between the original subgraph and the recovered version measures the anomaly score of each account. The divergence in node attributes can be visualized with an anomaly heat map, which provides an adequate explanation for each suspicious account, e.g., the reconstruction error of the transaction frequency on the weekend is much larger than other benign accounts.</a:t>
            </a:r>
          </a:p>
          <a:p>
            <a:endParaRPr kumimoji="1" lang="zh-CN" altLang="en-US" dirty="0"/>
          </a:p>
        </p:txBody>
      </p:sp>
      <p:sp>
        <p:nvSpPr>
          <p:cNvPr id="4" name="灯片编号占位符 3"/>
          <p:cNvSpPr>
            <a:spLocks noGrp="1"/>
          </p:cNvSpPr>
          <p:nvPr>
            <p:ph type="sldNum" sz="quarter" idx="5"/>
          </p:nvPr>
        </p:nvSpPr>
        <p:spPr/>
        <p:txBody>
          <a:bodyPr/>
          <a:lstStyle/>
          <a:p>
            <a:fld id="{169DDFD6-1CB2-3941-864E-E3880347DF8A}" type="slidenum">
              <a:rPr lang="en-US" smtClean="0"/>
              <a:t>2</a:t>
            </a:fld>
            <a:endParaRPr lang="en-US"/>
          </a:p>
        </p:txBody>
      </p:sp>
    </p:spTree>
    <p:extLst>
      <p:ext uri="{BB962C8B-B14F-4D97-AF65-F5344CB8AC3E}">
        <p14:creationId xmlns:p14="http://schemas.microsoft.com/office/powerpoint/2010/main" val="32740580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文本占位符 11"/>
          <p:cNvSpPr>
            <a:spLocks noGrp="1"/>
          </p:cNvSpPr>
          <p:nvPr>
            <p:ph type="body" sz="quarter" idx="10"/>
          </p:nvPr>
        </p:nvSpPr>
        <p:spPr>
          <a:xfrm>
            <a:off x="112304" y="206014"/>
            <a:ext cx="7762334" cy="531878"/>
          </a:xfrm>
          <a:prstGeom prst="rect">
            <a:avLst/>
          </a:prstGeom>
        </p:spPr>
        <p:txBody>
          <a:bodyPr lIns="113687" tIns="56844" rIns="113687" bIns="56844"/>
          <a:lstStyle>
            <a:lvl1pPr marL="0" indent="0">
              <a:buNone/>
              <a:defRPr sz="2000" b="0">
                <a:solidFill>
                  <a:srgbClr val="2A5976"/>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pic>
        <p:nvPicPr>
          <p:cNvPr id="2" name="图片 1" descr="未标题-1-04">
            <a:extLst>
              <a:ext uri="{FF2B5EF4-FFF2-40B4-BE49-F238E27FC236}">
                <a16:creationId xmlns:a16="http://schemas.microsoft.com/office/drawing/2014/main" id="{2285C49D-D31D-4268-9184-965F3A7DDF02}"/>
              </a:ext>
            </a:extLst>
          </p:cNvPr>
          <p:cNvPicPr>
            <a:picLocks noChangeAspect="1"/>
          </p:cNvPicPr>
          <p:nvPr userDrawn="1"/>
        </p:nvPicPr>
        <p:blipFill>
          <a:blip r:embed="rId2"/>
          <a:stretch>
            <a:fillRect/>
          </a:stretch>
        </p:blipFill>
        <p:spPr>
          <a:xfrm>
            <a:off x="0" y="694046"/>
            <a:ext cx="7200000" cy="34088"/>
          </a:xfrm>
          <a:prstGeom prst="rect">
            <a:avLst/>
          </a:prstGeom>
        </p:spPr>
      </p:pic>
      <p:sp>
        <p:nvSpPr>
          <p:cNvPr id="4" name="灯片编号占位符 5">
            <a:extLst>
              <a:ext uri="{FF2B5EF4-FFF2-40B4-BE49-F238E27FC236}">
                <a16:creationId xmlns:a16="http://schemas.microsoft.com/office/drawing/2014/main" id="{970BC67B-253B-411C-9E06-CC793D826CC8}"/>
              </a:ext>
            </a:extLst>
          </p:cNvPr>
          <p:cNvSpPr>
            <a:spLocks noGrp="1"/>
          </p:cNvSpPr>
          <p:nvPr>
            <p:ph type="sldNum" sz="quarter" idx="4"/>
          </p:nvPr>
        </p:nvSpPr>
        <p:spPr>
          <a:xfrm>
            <a:off x="10990247" y="6555499"/>
            <a:ext cx="1201755" cy="365168"/>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dirty="0"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文本占位符 11">
            <a:extLst>
              <a:ext uri="{FF2B5EF4-FFF2-40B4-BE49-F238E27FC236}">
                <a16:creationId xmlns:a16="http://schemas.microsoft.com/office/drawing/2014/main" id="{06E67253-A675-F94D-9A39-A8AE160701DD}"/>
              </a:ext>
            </a:extLst>
          </p:cNvPr>
          <p:cNvSpPr>
            <a:spLocks noGrp="1"/>
          </p:cNvSpPr>
          <p:nvPr>
            <p:ph type="body" sz="quarter" idx="10"/>
          </p:nvPr>
        </p:nvSpPr>
        <p:spPr>
          <a:xfrm>
            <a:off x="112304" y="206014"/>
            <a:ext cx="7762334" cy="531878"/>
          </a:xfrm>
          <a:prstGeom prst="rect">
            <a:avLst/>
          </a:prstGeom>
        </p:spPr>
        <p:txBody>
          <a:bodyPr lIns="113687" tIns="56844" rIns="113687" bIns="56844"/>
          <a:lstStyle>
            <a:lvl1pPr marL="0" indent="0">
              <a:buNone/>
              <a:defRPr sz="2000" b="0">
                <a:solidFill>
                  <a:srgbClr val="2A5976"/>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pic>
        <p:nvPicPr>
          <p:cNvPr id="4" name="图片 3" descr="未标题-1-04">
            <a:extLst>
              <a:ext uri="{FF2B5EF4-FFF2-40B4-BE49-F238E27FC236}">
                <a16:creationId xmlns:a16="http://schemas.microsoft.com/office/drawing/2014/main" id="{48FC1A14-ECC0-F94B-B85F-8AC6AF423468}"/>
              </a:ext>
            </a:extLst>
          </p:cNvPr>
          <p:cNvPicPr>
            <a:picLocks noChangeAspect="1"/>
          </p:cNvPicPr>
          <p:nvPr userDrawn="1"/>
        </p:nvPicPr>
        <p:blipFill>
          <a:blip r:embed="rId2"/>
          <a:stretch>
            <a:fillRect/>
          </a:stretch>
        </p:blipFill>
        <p:spPr>
          <a:xfrm>
            <a:off x="0" y="694046"/>
            <a:ext cx="7200000" cy="3408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文本占位符 11"/>
          <p:cNvSpPr>
            <a:spLocks noGrp="1"/>
          </p:cNvSpPr>
          <p:nvPr>
            <p:ph type="body" sz="quarter" idx="10"/>
          </p:nvPr>
        </p:nvSpPr>
        <p:spPr>
          <a:xfrm>
            <a:off x="112303" y="206009"/>
            <a:ext cx="7762334" cy="531881"/>
          </a:xfrm>
          <a:prstGeom prst="rect">
            <a:avLst/>
          </a:prstGeom>
        </p:spPr>
        <p:txBody>
          <a:bodyPr lIns="113687" tIns="56844" rIns="113687" bIns="56844"/>
          <a:lstStyle>
            <a:lvl1pPr marL="0" indent="0">
              <a:buNone/>
              <a:defRPr sz="2000" b="0">
                <a:solidFill>
                  <a:srgbClr val="2A5976"/>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pic>
        <p:nvPicPr>
          <p:cNvPr id="2" name="图片 1" descr="未标题-1-04">
            <a:extLst>
              <a:ext uri="{FF2B5EF4-FFF2-40B4-BE49-F238E27FC236}">
                <a16:creationId xmlns:a16="http://schemas.microsoft.com/office/drawing/2014/main" id="{2285C49D-D31D-4268-9184-965F3A7DDF02}"/>
              </a:ext>
            </a:extLst>
          </p:cNvPr>
          <p:cNvPicPr>
            <a:picLocks noChangeAspect="1"/>
          </p:cNvPicPr>
          <p:nvPr userDrawn="1"/>
        </p:nvPicPr>
        <p:blipFill>
          <a:blip r:embed="rId2"/>
          <a:stretch>
            <a:fillRect/>
          </a:stretch>
        </p:blipFill>
        <p:spPr>
          <a:xfrm>
            <a:off x="0" y="694041"/>
            <a:ext cx="7200000" cy="34091"/>
          </a:xfrm>
          <a:prstGeom prst="rect">
            <a:avLst/>
          </a:prstGeom>
        </p:spPr>
      </p:pic>
      <p:sp>
        <p:nvSpPr>
          <p:cNvPr id="4" name="灯片编号占位符 5">
            <a:extLst>
              <a:ext uri="{FF2B5EF4-FFF2-40B4-BE49-F238E27FC236}">
                <a16:creationId xmlns:a16="http://schemas.microsoft.com/office/drawing/2014/main" id="{970BC67B-253B-411C-9E06-CC793D826CC8}"/>
              </a:ext>
            </a:extLst>
          </p:cNvPr>
          <p:cNvSpPr>
            <a:spLocks noGrp="1"/>
          </p:cNvSpPr>
          <p:nvPr>
            <p:ph type="sldNum" sz="quarter" idx="4"/>
          </p:nvPr>
        </p:nvSpPr>
        <p:spPr>
          <a:xfrm>
            <a:off x="10990246" y="6555494"/>
            <a:ext cx="1201755" cy="365165"/>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smtClean="0"/>
              <a:t>‹#›</a:t>
            </a:fld>
            <a:endParaRPr lang="zh-CN" altLang="en-US"/>
          </a:p>
        </p:txBody>
      </p:sp>
    </p:spTree>
    <p:extLst>
      <p:ext uri="{BB962C8B-B14F-4D97-AF65-F5344CB8AC3E}">
        <p14:creationId xmlns:p14="http://schemas.microsoft.com/office/powerpoint/2010/main" val="2273475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nvSpPr>
        <p:spPr>
          <a:xfrm>
            <a:off x="1" y="0"/>
            <a:ext cx="1219358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Tree>
    <p:extLst>
      <p:ext uri="{BB962C8B-B14F-4D97-AF65-F5344CB8AC3E}">
        <p14:creationId xmlns:p14="http://schemas.microsoft.com/office/powerpoint/2010/main" val="161837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文本占位符 11"/>
          <p:cNvSpPr>
            <a:spLocks noGrp="1"/>
          </p:cNvSpPr>
          <p:nvPr>
            <p:ph type="body" sz="quarter" idx="10"/>
          </p:nvPr>
        </p:nvSpPr>
        <p:spPr>
          <a:xfrm>
            <a:off x="112303" y="206007"/>
            <a:ext cx="7762334" cy="531881"/>
          </a:xfrm>
          <a:prstGeom prst="rect">
            <a:avLst/>
          </a:prstGeom>
        </p:spPr>
        <p:txBody>
          <a:bodyPr lIns="113687" tIns="56844" rIns="113687" bIns="56844"/>
          <a:lstStyle>
            <a:lvl1pPr marL="0" indent="0">
              <a:buNone/>
              <a:defRPr sz="2000" b="0">
                <a:solidFill>
                  <a:srgbClr val="2A5976"/>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pic>
        <p:nvPicPr>
          <p:cNvPr id="2" name="图片 1" descr="未标题-1-04">
            <a:extLst>
              <a:ext uri="{FF2B5EF4-FFF2-40B4-BE49-F238E27FC236}">
                <a16:creationId xmlns:a16="http://schemas.microsoft.com/office/drawing/2014/main" id="{2285C49D-D31D-4268-9184-965F3A7DDF02}"/>
              </a:ext>
            </a:extLst>
          </p:cNvPr>
          <p:cNvPicPr>
            <a:picLocks noChangeAspect="1"/>
          </p:cNvPicPr>
          <p:nvPr userDrawn="1"/>
        </p:nvPicPr>
        <p:blipFill>
          <a:blip r:embed="rId2"/>
          <a:stretch>
            <a:fillRect/>
          </a:stretch>
        </p:blipFill>
        <p:spPr>
          <a:xfrm>
            <a:off x="0" y="694039"/>
            <a:ext cx="7200000" cy="34091"/>
          </a:xfrm>
          <a:prstGeom prst="rect">
            <a:avLst/>
          </a:prstGeom>
        </p:spPr>
      </p:pic>
      <p:sp>
        <p:nvSpPr>
          <p:cNvPr id="4" name="灯片编号占位符 5">
            <a:extLst>
              <a:ext uri="{FF2B5EF4-FFF2-40B4-BE49-F238E27FC236}">
                <a16:creationId xmlns:a16="http://schemas.microsoft.com/office/drawing/2014/main" id="{970BC67B-253B-411C-9E06-CC793D826CC8}"/>
              </a:ext>
            </a:extLst>
          </p:cNvPr>
          <p:cNvSpPr>
            <a:spLocks noGrp="1"/>
          </p:cNvSpPr>
          <p:nvPr>
            <p:ph type="sldNum" sz="quarter" idx="4"/>
          </p:nvPr>
        </p:nvSpPr>
        <p:spPr>
          <a:xfrm>
            <a:off x="10990245" y="6555492"/>
            <a:ext cx="1201755" cy="365165"/>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dirty="0" smtClean="0"/>
              <a:t>‹#›</a:t>
            </a:fld>
            <a:endParaRPr lang="zh-CN" altLang="en-US" dirty="0"/>
          </a:p>
        </p:txBody>
      </p:sp>
    </p:spTree>
    <p:extLst>
      <p:ext uri="{BB962C8B-B14F-4D97-AF65-F5344CB8AC3E}">
        <p14:creationId xmlns:p14="http://schemas.microsoft.com/office/powerpoint/2010/main" val="74851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文本占位符 11">
            <a:extLst>
              <a:ext uri="{FF2B5EF4-FFF2-40B4-BE49-F238E27FC236}">
                <a16:creationId xmlns:a16="http://schemas.microsoft.com/office/drawing/2014/main" id="{06E67253-A675-F94D-9A39-A8AE160701DD}"/>
              </a:ext>
            </a:extLst>
          </p:cNvPr>
          <p:cNvSpPr>
            <a:spLocks noGrp="1"/>
          </p:cNvSpPr>
          <p:nvPr>
            <p:ph type="body" sz="quarter" idx="10"/>
          </p:nvPr>
        </p:nvSpPr>
        <p:spPr>
          <a:xfrm>
            <a:off x="112303" y="206007"/>
            <a:ext cx="7762334" cy="531881"/>
          </a:xfrm>
          <a:prstGeom prst="rect">
            <a:avLst/>
          </a:prstGeom>
        </p:spPr>
        <p:txBody>
          <a:bodyPr lIns="113687" tIns="56844" rIns="113687" bIns="56844"/>
          <a:lstStyle>
            <a:lvl1pPr marL="0" indent="0">
              <a:buNone/>
              <a:defRPr sz="2000" b="0">
                <a:solidFill>
                  <a:srgbClr val="2A5976"/>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pic>
        <p:nvPicPr>
          <p:cNvPr id="4" name="图片 3" descr="未标题-1-04">
            <a:extLst>
              <a:ext uri="{FF2B5EF4-FFF2-40B4-BE49-F238E27FC236}">
                <a16:creationId xmlns:a16="http://schemas.microsoft.com/office/drawing/2014/main" id="{48FC1A14-ECC0-F94B-B85F-8AC6AF423468}"/>
              </a:ext>
            </a:extLst>
          </p:cNvPr>
          <p:cNvPicPr>
            <a:picLocks noChangeAspect="1"/>
          </p:cNvPicPr>
          <p:nvPr userDrawn="1"/>
        </p:nvPicPr>
        <p:blipFill>
          <a:blip r:embed="rId2"/>
          <a:stretch>
            <a:fillRect/>
          </a:stretch>
        </p:blipFill>
        <p:spPr>
          <a:xfrm>
            <a:off x="0" y="694039"/>
            <a:ext cx="7200000" cy="34091"/>
          </a:xfrm>
          <a:prstGeom prst="rect">
            <a:avLst/>
          </a:prstGeom>
        </p:spPr>
      </p:pic>
    </p:spTree>
    <p:extLst>
      <p:ext uri="{BB962C8B-B14F-4D97-AF65-F5344CB8AC3E}">
        <p14:creationId xmlns:p14="http://schemas.microsoft.com/office/powerpoint/2010/main" val="1941954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D4EBDEE-59B0-4C98-9AD6-32C62A6D205A}"/>
              </a:ext>
            </a:extLst>
          </p:cNvPr>
          <p:cNvSpPr>
            <a:spLocks noGrp="1"/>
          </p:cNvSpPr>
          <p:nvPr>
            <p:ph idx="1"/>
          </p:nvPr>
        </p:nvSpPr>
        <p:spPr/>
        <p:txBody>
          <a:bodyPr/>
          <a:lstStyle>
            <a:lvl1pPr marL="0" indent="0">
              <a:buNone/>
              <a:defRPr/>
            </a:lvl1pPr>
          </a:lstStyle>
          <a:p>
            <a:pPr lvl="0"/>
            <a:endParaRPr lang="en-US" dirty="0"/>
          </a:p>
        </p:txBody>
      </p:sp>
    </p:spTree>
    <p:extLst>
      <p:ext uri="{BB962C8B-B14F-4D97-AF65-F5344CB8AC3E}">
        <p14:creationId xmlns:p14="http://schemas.microsoft.com/office/powerpoint/2010/main" val="612911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文本占位符 11"/>
          <p:cNvSpPr>
            <a:spLocks noGrp="1"/>
          </p:cNvSpPr>
          <p:nvPr>
            <p:ph type="body" sz="quarter" idx="10"/>
          </p:nvPr>
        </p:nvSpPr>
        <p:spPr>
          <a:xfrm>
            <a:off x="112303" y="206007"/>
            <a:ext cx="7762334" cy="531881"/>
          </a:xfrm>
          <a:prstGeom prst="rect">
            <a:avLst/>
          </a:prstGeom>
        </p:spPr>
        <p:txBody>
          <a:bodyPr lIns="113687" tIns="56844" rIns="113687" bIns="56844"/>
          <a:lstStyle>
            <a:lvl1pPr marL="0" indent="0">
              <a:buNone/>
              <a:defRPr sz="2000" b="0">
                <a:solidFill>
                  <a:srgbClr val="2A5976"/>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pic>
        <p:nvPicPr>
          <p:cNvPr id="2" name="图片 1" descr="未标题-1-04">
            <a:extLst>
              <a:ext uri="{FF2B5EF4-FFF2-40B4-BE49-F238E27FC236}">
                <a16:creationId xmlns:a16="http://schemas.microsoft.com/office/drawing/2014/main" id="{2285C49D-D31D-4268-9184-965F3A7DDF02}"/>
              </a:ext>
            </a:extLst>
          </p:cNvPr>
          <p:cNvPicPr>
            <a:picLocks noChangeAspect="1"/>
          </p:cNvPicPr>
          <p:nvPr userDrawn="1"/>
        </p:nvPicPr>
        <p:blipFill>
          <a:blip r:embed="rId2"/>
          <a:stretch>
            <a:fillRect/>
          </a:stretch>
        </p:blipFill>
        <p:spPr>
          <a:xfrm>
            <a:off x="0" y="694039"/>
            <a:ext cx="7200000" cy="34091"/>
          </a:xfrm>
          <a:prstGeom prst="rect">
            <a:avLst/>
          </a:prstGeom>
        </p:spPr>
      </p:pic>
      <p:sp>
        <p:nvSpPr>
          <p:cNvPr id="4" name="灯片编号占位符 5">
            <a:extLst>
              <a:ext uri="{FF2B5EF4-FFF2-40B4-BE49-F238E27FC236}">
                <a16:creationId xmlns:a16="http://schemas.microsoft.com/office/drawing/2014/main" id="{970BC67B-253B-411C-9E06-CC793D826CC8}"/>
              </a:ext>
            </a:extLst>
          </p:cNvPr>
          <p:cNvSpPr>
            <a:spLocks noGrp="1"/>
          </p:cNvSpPr>
          <p:nvPr>
            <p:ph type="sldNum" sz="quarter" idx="4"/>
          </p:nvPr>
        </p:nvSpPr>
        <p:spPr>
          <a:xfrm>
            <a:off x="10990245" y="6555492"/>
            <a:ext cx="1201755" cy="365165"/>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smtClean="0"/>
              <a:t>‹#›</a:t>
            </a:fld>
            <a:endParaRPr lang="zh-CN" altLang="en-US"/>
          </a:p>
        </p:txBody>
      </p:sp>
    </p:spTree>
    <p:extLst>
      <p:ext uri="{BB962C8B-B14F-4D97-AF65-F5344CB8AC3E}">
        <p14:creationId xmlns:p14="http://schemas.microsoft.com/office/powerpoint/2010/main" val="1202416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nvSpPr>
        <p:spPr>
          <a:xfrm>
            <a:off x="0" y="0"/>
            <a:ext cx="1219358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9372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sv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lum/>
          </a:blip>
          <a:srcRect/>
          <a:stretch>
            <a:fillRect/>
          </a:stretch>
        </a:blipFill>
        <a:effectLst/>
      </p:bgPr>
    </p:bg>
    <p:spTree>
      <p:nvGrpSpPr>
        <p:cNvPr id="1" name=""/>
        <p:cNvGrpSpPr/>
        <p:nvPr/>
      </p:nvGrpSpPr>
      <p:grpSpPr>
        <a:xfrm>
          <a:off x="0" y="0"/>
          <a:ext cx="0" cy="0"/>
          <a:chOff x="0" y="0"/>
          <a:chExt cx="0" cy="0"/>
        </a:xfrm>
      </p:grpSpPr>
      <p:sp>
        <p:nvSpPr>
          <p:cNvPr id="11" name="矩形 10"/>
          <p:cNvSpPr/>
          <p:nvPr userDrawn="1"/>
        </p:nvSpPr>
        <p:spPr>
          <a:xfrm>
            <a:off x="2" y="0"/>
            <a:ext cx="1219358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8"/>
          </a:p>
        </p:txBody>
      </p:sp>
      <p:cxnSp>
        <p:nvCxnSpPr>
          <p:cNvPr id="5" name="直接连接符 4"/>
          <p:cNvCxnSpPr/>
          <p:nvPr userDrawn="1"/>
        </p:nvCxnSpPr>
        <p:spPr>
          <a:xfrm>
            <a:off x="-1290" y="6555495"/>
            <a:ext cx="12194878" cy="0"/>
          </a:xfrm>
          <a:prstGeom prst="line">
            <a:avLst/>
          </a:prstGeom>
          <a:solidFill>
            <a:schemeClr val="tx2"/>
          </a:solidFill>
          <a:ln w="9525" cap="flat" cmpd="sng" algn="ctr">
            <a:solidFill>
              <a:schemeClr val="bg1">
                <a:lumMod val="75000"/>
              </a:schemeClr>
            </a:solidFill>
            <a:prstDash val="solid"/>
            <a:round/>
            <a:headEnd type="none" w="med" len="med"/>
            <a:tailEnd type="none" w="med" len="med"/>
          </a:ln>
        </p:spPr>
      </p:cxnSp>
      <p:sp>
        <p:nvSpPr>
          <p:cNvPr id="4" name="灯片编号占位符 5">
            <a:extLst>
              <a:ext uri="{FF2B5EF4-FFF2-40B4-BE49-F238E27FC236}">
                <a16:creationId xmlns:a16="http://schemas.microsoft.com/office/drawing/2014/main" id="{14F2028D-0E5D-4C48-A2D5-E01F01BA5642}"/>
              </a:ext>
            </a:extLst>
          </p:cNvPr>
          <p:cNvSpPr>
            <a:spLocks noGrp="1"/>
          </p:cNvSpPr>
          <p:nvPr>
            <p:ph type="sldNum" sz="quarter" idx="4"/>
          </p:nvPr>
        </p:nvSpPr>
        <p:spPr>
          <a:xfrm>
            <a:off x="10990247" y="6555499"/>
            <a:ext cx="1201755" cy="365168"/>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dirty="0" smtClean="0"/>
              <a:t>‹#›</a:t>
            </a:fld>
            <a:endParaRPr lang="zh-CN" altLang="en-US" dirty="0"/>
          </a:p>
        </p:txBody>
      </p:sp>
      <p:pic>
        <p:nvPicPr>
          <p:cNvPr id="7" name="图片 6" descr="未标题-1-04">
            <a:extLst>
              <a:ext uri="{FF2B5EF4-FFF2-40B4-BE49-F238E27FC236}">
                <a16:creationId xmlns:a16="http://schemas.microsoft.com/office/drawing/2014/main" id="{99420715-B66B-C044-8894-38F73A12A709}"/>
              </a:ext>
            </a:extLst>
          </p:cNvPr>
          <p:cNvPicPr>
            <a:picLocks noChangeAspect="1"/>
          </p:cNvPicPr>
          <p:nvPr userDrawn="1"/>
        </p:nvPicPr>
        <p:blipFill>
          <a:blip r:embed="rId5"/>
          <a:stretch>
            <a:fillRect/>
          </a:stretch>
        </p:blipFill>
        <p:spPr>
          <a:xfrm>
            <a:off x="0" y="694046"/>
            <a:ext cx="7200000" cy="34088"/>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65" r:id="rId2"/>
  </p:sldLayoutIdLst>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3101665"/>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lum/>
          </a:blip>
          <a:srcRect/>
          <a:stretch>
            <a:fillRect/>
          </a:stretch>
        </a:blipFill>
        <a:effectLst/>
      </p:bgPr>
    </p:bg>
    <p:spTree>
      <p:nvGrpSpPr>
        <p:cNvPr id="1" name=""/>
        <p:cNvGrpSpPr/>
        <p:nvPr/>
      </p:nvGrpSpPr>
      <p:grpSpPr>
        <a:xfrm>
          <a:off x="0" y="0"/>
          <a:ext cx="0" cy="0"/>
          <a:chOff x="0" y="0"/>
          <a:chExt cx="0" cy="0"/>
        </a:xfrm>
      </p:grpSpPr>
      <p:sp>
        <p:nvSpPr>
          <p:cNvPr id="11" name="矩形 10"/>
          <p:cNvSpPr/>
          <p:nvPr userDrawn="1"/>
        </p:nvSpPr>
        <p:spPr>
          <a:xfrm>
            <a:off x="1" y="0"/>
            <a:ext cx="1219358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cxnSp>
        <p:nvCxnSpPr>
          <p:cNvPr id="5" name="直接连接符 4"/>
          <p:cNvCxnSpPr/>
          <p:nvPr userDrawn="1"/>
        </p:nvCxnSpPr>
        <p:spPr>
          <a:xfrm>
            <a:off x="-1289" y="6555492"/>
            <a:ext cx="12194877" cy="0"/>
          </a:xfrm>
          <a:prstGeom prst="line">
            <a:avLst/>
          </a:prstGeom>
          <a:solidFill>
            <a:schemeClr val="tx2"/>
          </a:solidFill>
          <a:ln w="9525" cap="flat" cmpd="sng" algn="ctr">
            <a:solidFill>
              <a:schemeClr val="bg1">
                <a:lumMod val="75000"/>
              </a:schemeClr>
            </a:solidFill>
            <a:prstDash val="solid"/>
            <a:round/>
            <a:headEnd type="none" w="med" len="med"/>
            <a:tailEnd type="none" w="med" len="med"/>
          </a:ln>
        </p:spPr>
      </p:cxnSp>
      <p:sp>
        <p:nvSpPr>
          <p:cNvPr id="4" name="灯片编号占位符 5">
            <a:extLst>
              <a:ext uri="{FF2B5EF4-FFF2-40B4-BE49-F238E27FC236}">
                <a16:creationId xmlns:a16="http://schemas.microsoft.com/office/drawing/2014/main" id="{14F2028D-0E5D-4C48-A2D5-E01F01BA5642}"/>
              </a:ext>
            </a:extLst>
          </p:cNvPr>
          <p:cNvSpPr>
            <a:spLocks noGrp="1"/>
          </p:cNvSpPr>
          <p:nvPr>
            <p:ph type="sldNum" sz="quarter" idx="4"/>
          </p:nvPr>
        </p:nvSpPr>
        <p:spPr>
          <a:xfrm>
            <a:off x="10990246" y="6555494"/>
            <a:ext cx="1201755" cy="365165"/>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smtClean="0"/>
              <a:t>‹#›</a:t>
            </a:fld>
            <a:endParaRPr lang="zh-CN" altLang="en-US"/>
          </a:p>
        </p:txBody>
      </p:sp>
    </p:spTree>
    <p:extLst>
      <p:ext uri="{BB962C8B-B14F-4D97-AF65-F5344CB8AC3E}">
        <p14:creationId xmlns:p14="http://schemas.microsoft.com/office/powerpoint/2010/main" val="3399009683"/>
      </p:ext>
    </p:extLst>
  </p:cSld>
  <p:clrMap bg1="lt1" tx1="dk1" bg2="lt2" tx2="dk2" accent1="accent1" accent2="accent2" accent3="accent3" accent4="accent4" accent5="accent5" accent6="accent6" hlink="hlink" folHlink="folHlink"/>
  <p:sldLayoutIdLst>
    <p:sldLayoutId id="2147483723" r:id="rId1"/>
    <p:sldLayoutId id="2147483724" r:id="rId2"/>
  </p:sldLayoutIdLst>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print">
            <a:lum/>
          </a:blip>
          <a:srcRect/>
          <a:stretch>
            <a:fillRect/>
          </a:stretch>
        </a:blipFill>
        <a:effectLst/>
      </p:bgPr>
    </p:bg>
    <p:spTree>
      <p:nvGrpSpPr>
        <p:cNvPr id="1" name=""/>
        <p:cNvGrpSpPr/>
        <p:nvPr/>
      </p:nvGrpSpPr>
      <p:grpSpPr>
        <a:xfrm>
          <a:off x="0" y="0"/>
          <a:ext cx="0" cy="0"/>
          <a:chOff x="0" y="0"/>
          <a:chExt cx="0" cy="0"/>
        </a:xfrm>
      </p:grpSpPr>
      <p:sp>
        <p:nvSpPr>
          <p:cNvPr id="11" name="矩形 10"/>
          <p:cNvSpPr/>
          <p:nvPr userDrawn="1"/>
        </p:nvSpPr>
        <p:spPr>
          <a:xfrm>
            <a:off x="0" y="0"/>
            <a:ext cx="1219358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1290" y="6555492"/>
            <a:ext cx="12194877" cy="0"/>
          </a:xfrm>
          <a:prstGeom prst="line">
            <a:avLst/>
          </a:prstGeom>
          <a:solidFill>
            <a:schemeClr val="tx2"/>
          </a:solidFill>
          <a:ln w="9525" cap="flat" cmpd="sng" algn="ctr">
            <a:solidFill>
              <a:schemeClr val="bg1">
                <a:lumMod val="75000"/>
              </a:schemeClr>
            </a:solidFill>
            <a:prstDash val="solid"/>
            <a:round/>
            <a:headEnd type="none" w="med" len="med"/>
            <a:tailEnd type="none" w="med" len="med"/>
          </a:ln>
        </p:spPr>
      </p:cxnSp>
      <p:sp>
        <p:nvSpPr>
          <p:cNvPr id="4" name="灯片编号占位符 5">
            <a:extLst>
              <a:ext uri="{FF2B5EF4-FFF2-40B4-BE49-F238E27FC236}">
                <a16:creationId xmlns:a16="http://schemas.microsoft.com/office/drawing/2014/main" id="{14F2028D-0E5D-4C48-A2D5-E01F01BA5642}"/>
              </a:ext>
            </a:extLst>
          </p:cNvPr>
          <p:cNvSpPr>
            <a:spLocks noGrp="1"/>
          </p:cNvSpPr>
          <p:nvPr>
            <p:ph type="sldNum" sz="quarter" idx="4"/>
          </p:nvPr>
        </p:nvSpPr>
        <p:spPr>
          <a:xfrm>
            <a:off x="10990245" y="6555492"/>
            <a:ext cx="1201755" cy="365165"/>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dirty="0" smtClean="0"/>
              <a:t>‹#›</a:t>
            </a:fld>
            <a:endParaRPr lang="zh-CN" altLang="en-US" dirty="0"/>
          </a:p>
        </p:txBody>
      </p:sp>
      <p:pic>
        <p:nvPicPr>
          <p:cNvPr id="7" name="图片 6" descr="未标题-1-04">
            <a:extLst>
              <a:ext uri="{FF2B5EF4-FFF2-40B4-BE49-F238E27FC236}">
                <a16:creationId xmlns:a16="http://schemas.microsoft.com/office/drawing/2014/main" id="{99420715-B66B-C044-8894-38F73A12A709}"/>
              </a:ext>
            </a:extLst>
          </p:cNvPr>
          <p:cNvPicPr>
            <a:picLocks noChangeAspect="1"/>
          </p:cNvPicPr>
          <p:nvPr userDrawn="1"/>
        </p:nvPicPr>
        <p:blipFill>
          <a:blip r:embed="rId6"/>
          <a:stretch>
            <a:fillRect/>
          </a:stretch>
        </p:blipFill>
        <p:spPr>
          <a:xfrm>
            <a:off x="0" y="694039"/>
            <a:ext cx="7200000" cy="34091"/>
          </a:xfrm>
          <a:prstGeom prst="rect">
            <a:avLst/>
          </a:prstGeom>
        </p:spPr>
      </p:pic>
      <p:pic>
        <p:nvPicPr>
          <p:cNvPr id="6" name="图形 5">
            <a:extLst>
              <a:ext uri="{FF2B5EF4-FFF2-40B4-BE49-F238E27FC236}">
                <a16:creationId xmlns:a16="http://schemas.microsoft.com/office/drawing/2014/main" id="{0D87EBEC-EA74-CEC2-2813-D65CC9C7C37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40432" y="203346"/>
            <a:ext cx="1752600" cy="520700"/>
          </a:xfrm>
          <a:prstGeom prst="rect">
            <a:avLst/>
          </a:prstGeom>
        </p:spPr>
      </p:pic>
    </p:spTree>
    <p:extLst>
      <p:ext uri="{BB962C8B-B14F-4D97-AF65-F5344CB8AC3E}">
        <p14:creationId xmlns:p14="http://schemas.microsoft.com/office/powerpoint/2010/main" val="938915504"/>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Lst>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cstate="print">
            <a:lum/>
          </a:blip>
          <a:srcRect/>
          <a:stretch>
            <a:fillRect/>
          </a:stretch>
        </a:blipFill>
        <a:effectLst/>
      </p:bgPr>
    </p:bg>
    <p:spTree>
      <p:nvGrpSpPr>
        <p:cNvPr id="1" name=""/>
        <p:cNvGrpSpPr/>
        <p:nvPr/>
      </p:nvGrpSpPr>
      <p:grpSpPr>
        <a:xfrm>
          <a:off x="0" y="0"/>
          <a:ext cx="0" cy="0"/>
          <a:chOff x="0" y="0"/>
          <a:chExt cx="0" cy="0"/>
        </a:xfrm>
      </p:grpSpPr>
      <p:sp>
        <p:nvSpPr>
          <p:cNvPr id="11" name="矩形 10"/>
          <p:cNvSpPr/>
          <p:nvPr userDrawn="1"/>
        </p:nvSpPr>
        <p:spPr>
          <a:xfrm>
            <a:off x="0" y="0"/>
            <a:ext cx="1219358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1290" y="6555492"/>
            <a:ext cx="12194877" cy="0"/>
          </a:xfrm>
          <a:prstGeom prst="line">
            <a:avLst/>
          </a:prstGeom>
          <a:solidFill>
            <a:schemeClr val="tx2"/>
          </a:solidFill>
          <a:ln w="9525" cap="flat" cmpd="sng" algn="ctr">
            <a:solidFill>
              <a:schemeClr val="bg1">
                <a:lumMod val="75000"/>
              </a:schemeClr>
            </a:solidFill>
            <a:prstDash val="solid"/>
            <a:round/>
            <a:headEnd type="none" w="med" len="med"/>
            <a:tailEnd type="none" w="med" len="med"/>
          </a:ln>
        </p:spPr>
      </p:cxnSp>
      <p:sp>
        <p:nvSpPr>
          <p:cNvPr id="4" name="灯片编号占位符 5">
            <a:extLst>
              <a:ext uri="{FF2B5EF4-FFF2-40B4-BE49-F238E27FC236}">
                <a16:creationId xmlns:a16="http://schemas.microsoft.com/office/drawing/2014/main" id="{14F2028D-0E5D-4C48-A2D5-E01F01BA5642}"/>
              </a:ext>
            </a:extLst>
          </p:cNvPr>
          <p:cNvSpPr>
            <a:spLocks noGrp="1"/>
          </p:cNvSpPr>
          <p:nvPr>
            <p:ph type="sldNum" sz="quarter" idx="4"/>
          </p:nvPr>
        </p:nvSpPr>
        <p:spPr>
          <a:xfrm>
            <a:off x="10990245" y="6555492"/>
            <a:ext cx="1201755" cy="365165"/>
          </a:xfrm>
          <a:prstGeom prst="rect">
            <a:avLst/>
          </a:prstGeom>
        </p:spPr>
        <p:txBody>
          <a:bodyPr lIns="96762" tIns="48381" rIns="96762" bIns="48381"/>
          <a:lstStyle>
            <a:lvl1pPr algn="r">
              <a:defRPr sz="1400" b="1">
                <a:solidFill>
                  <a:schemeClr val="bg1">
                    <a:lumMod val="50000"/>
                  </a:schemeClr>
                </a:solidFill>
                <a:latin typeface="微软雅黑 Light" panose="020B0502040204020203" pitchFamily="34" charset="-122"/>
                <a:ea typeface="微软雅黑 Light" panose="020B0502040204020203" pitchFamily="34" charset="-122"/>
              </a:defRPr>
            </a:lvl1pPr>
          </a:lstStyle>
          <a:p>
            <a:r>
              <a:rPr lang="en-US" altLang="zh-CN" dirty="0"/>
              <a:t>page</a:t>
            </a:r>
            <a:fld id="{49FE017D-B884-4427-AD91-57114744D234}" type="slidenum">
              <a:rPr lang="zh-CN" altLang="en-US" smtClean="0"/>
              <a:t>‹#›</a:t>
            </a:fld>
            <a:endParaRPr lang="zh-CN" altLang="en-US"/>
          </a:p>
        </p:txBody>
      </p:sp>
    </p:spTree>
    <p:extLst>
      <p:ext uri="{BB962C8B-B14F-4D97-AF65-F5344CB8AC3E}">
        <p14:creationId xmlns:p14="http://schemas.microsoft.com/office/powerpoint/2010/main" val="3011456433"/>
      </p:ext>
    </p:extLst>
  </p:cSld>
  <p:clrMap bg1="lt1" tx1="dk1" bg2="lt2" tx2="dk2" accent1="accent1" accent2="accent2" accent3="accent3" accent4="accent4" accent5="accent5" accent6="accent6" hlink="hlink" folHlink="folHlink"/>
  <p:sldLayoutIdLst>
    <p:sldLayoutId id="2147483761" r:id="rId1"/>
    <p:sldLayoutId id="2147483762" r:id="rId2"/>
  </p:sldLayoutIdLst>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emf"/><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emf"/><Relationship Id="rId2" Type="http://schemas.openxmlformats.org/officeDocument/2006/relationships/notesSlide" Target="../notesSlides/notesSlide2.xml"/><Relationship Id="rId16" Type="http://schemas.openxmlformats.org/officeDocument/2006/relationships/image" Target="../media/image5.jp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emf"/><Relationship Id="rId5" Type="http://schemas.openxmlformats.org/officeDocument/2006/relationships/image" Target="../media/image7.jpeg"/><Relationship Id="rId15" Type="http://schemas.openxmlformats.org/officeDocument/2006/relationships/image" Target="../media/image17.jpeg"/><Relationship Id="rId10" Type="http://schemas.openxmlformats.org/officeDocument/2006/relationships/image" Target="../media/image12.emf"/><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8.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A00E1A1-A192-4469-C405-6F69E2090464}"/>
              </a:ext>
            </a:extLst>
          </p:cNvPr>
          <p:cNvSpPr>
            <a:spLocks noGrp="1"/>
          </p:cNvSpPr>
          <p:nvPr>
            <p:ph type="title" idx="4294967295"/>
          </p:nvPr>
        </p:nvSpPr>
        <p:spPr>
          <a:xfrm>
            <a:off x="22860" y="361169"/>
            <a:ext cx="9677400" cy="790575"/>
          </a:xfrm>
          <a:prstGeom prst="rect">
            <a:avLst/>
          </a:prstGeom>
        </p:spPr>
        <p:txBody>
          <a:bodyPr vert="horz" lIns="91440" tIns="45720" rIns="91440" bIns="45720" rtlCol="0" anchor="ctr">
            <a:normAutofit/>
          </a:bodyPr>
          <a:lstStyle/>
          <a:p>
            <a:r>
              <a:rPr kumimoji="1" lang="en-US" sz="2500" dirty="0">
                <a:solidFill>
                  <a:schemeClr val="accent1">
                    <a:lumMod val="50000"/>
                  </a:schemeClr>
                </a:solidFill>
                <a:cs typeface="Arial" panose="020B0604020202020204" pitchFamily="34" charset="0"/>
              </a:rPr>
              <a:t>Task, Graph and Features of Anti-Money Laundering</a:t>
            </a:r>
          </a:p>
        </p:txBody>
      </p:sp>
      <p:sp>
        <p:nvSpPr>
          <p:cNvPr id="8" name="矩形 7">
            <a:extLst>
              <a:ext uri="{FF2B5EF4-FFF2-40B4-BE49-F238E27FC236}">
                <a16:creationId xmlns:a16="http://schemas.microsoft.com/office/drawing/2014/main" id="{6B990C3E-47F9-6DA0-6959-A2ACF66F3265}"/>
              </a:ext>
            </a:extLst>
          </p:cNvPr>
          <p:cNvSpPr/>
          <p:nvPr/>
        </p:nvSpPr>
        <p:spPr>
          <a:xfrm>
            <a:off x="842506" y="4047553"/>
            <a:ext cx="10668000" cy="2618105"/>
          </a:xfrm>
          <a:prstGeom prst="rect">
            <a:avLst/>
          </a:prstGeom>
          <a:solidFill>
            <a:srgbClr val="C2D7F0"/>
          </a:solidFill>
          <a:ln w="31750" cmpd="sng">
            <a:no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9" name="任意多边形 4">
            <a:extLst>
              <a:ext uri="{FF2B5EF4-FFF2-40B4-BE49-F238E27FC236}">
                <a16:creationId xmlns:a16="http://schemas.microsoft.com/office/drawing/2014/main" id="{FA7BA98D-F5F7-680C-AF58-1C61D3081011}"/>
              </a:ext>
            </a:extLst>
          </p:cNvPr>
          <p:cNvSpPr/>
          <p:nvPr/>
        </p:nvSpPr>
        <p:spPr>
          <a:xfrm>
            <a:off x="1944181" y="1428257"/>
            <a:ext cx="394335" cy="1652905"/>
          </a:xfrm>
          <a:custGeom>
            <a:avLst/>
            <a:gdLst>
              <a:gd name="connsiteX0" fmla="*/ 0 w 621"/>
              <a:gd name="connsiteY0" fmla="*/ 0 h 2603"/>
              <a:gd name="connsiteX1" fmla="*/ 601 w 621"/>
              <a:gd name="connsiteY1" fmla="*/ 391 h 2603"/>
              <a:gd name="connsiteX2" fmla="*/ 621 w 621"/>
              <a:gd name="connsiteY2" fmla="*/ 2603 h 2603"/>
              <a:gd name="connsiteX3" fmla="*/ 41 w 621"/>
              <a:gd name="connsiteY3" fmla="*/ 2251 h 2603"/>
              <a:gd name="connsiteX4" fmla="*/ 0 w 621"/>
              <a:gd name="connsiteY4" fmla="*/ 0 h 2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 h="2603">
                <a:moveTo>
                  <a:pt x="0" y="0"/>
                </a:moveTo>
                <a:lnTo>
                  <a:pt x="601" y="391"/>
                </a:lnTo>
                <a:lnTo>
                  <a:pt x="621" y="2603"/>
                </a:lnTo>
                <a:lnTo>
                  <a:pt x="41" y="2251"/>
                </a:lnTo>
                <a:lnTo>
                  <a:pt x="0" y="0"/>
                </a:lnTo>
                <a:close/>
              </a:path>
            </a:pathLst>
          </a:custGeom>
          <a:solidFill>
            <a:schemeClr val="tx2">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Arial" panose="020B0604020202020204" pitchFamily="34" charset="0"/>
              <a:cs typeface="Arial" panose="020B0604020202020204" pitchFamily="34" charset="0"/>
              <a:sym typeface="+mn-ea"/>
            </a:endParaRPr>
          </a:p>
        </p:txBody>
      </p:sp>
      <p:sp>
        <p:nvSpPr>
          <p:cNvPr id="10" name="任意多边形 5">
            <a:extLst>
              <a:ext uri="{FF2B5EF4-FFF2-40B4-BE49-F238E27FC236}">
                <a16:creationId xmlns:a16="http://schemas.microsoft.com/office/drawing/2014/main" id="{BD31E0C5-7B1A-1797-2E78-524815D9EB8D}"/>
              </a:ext>
            </a:extLst>
          </p:cNvPr>
          <p:cNvSpPr/>
          <p:nvPr/>
        </p:nvSpPr>
        <p:spPr>
          <a:xfrm>
            <a:off x="3244026" y="1496837"/>
            <a:ext cx="394335" cy="1652905"/>
          </a:xfrm>
          <a:custGeom>
            <a:avLst/>
            <a:gdLst>
              <a:gd name="connsiteX0" fmla="*/ 0 w 621"/>
              <a:gd name="connsiteY0" fmla="*/ 0 h 2603"/>
              <a:gd name="connsiteX1" fmla="*/ 601 w 621"/>
              <a:gd name="connsiteY1" fmla="*/ 391 h 2603"/>
              <a:gd name="connsiteX2" fmla="*/ 621 w 621"/>
              <a:gd name="connsiteY2" fmla="*/ 2603 h 2603"/>
              <a:gd name="connsiteX3" fmla="*/ 41 w 621"/>
              <a:gd name="connsiteY3" fmla="*/ 2251 h 2603"/>
              <a:gd name="connsiteX4" fmla="*/ 0 w 621"/>
              <a:gd name="connsiteY4" fmla="*/ 0 h 2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 h="2603">
                <a:moveTo>
                  <a:pt x="0" y="0"/>
                </a:moveTo>
                <a:lnTo>
                  <a:pt x="601" y="391"/>
                </a:lnTo>
                <a:lnTo>
                  <a:pt x="621" y="2603"/>
                </a:lnTo>
                <a:lnTo>
                  <a:pt x="41" y="2251"/>
                </a:lnTo>
                <a:lnTo>
                  <a:pt x="0" y="0"/>
                </a:lnTo>
                <a:close/>
              </a:path>
            </a:pathLst>
          </a:custGeom>
          <a:solidFill>
            <a:schemeClr val="tx2">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Arial" panose="020B0604020202020204" pitchFamily="34" charset="0"/>
              <a:cs typeface="Arial" panose="020B0604020202020204" pitchFamily="34" charset="0"/>
              <a:sym typeface="+mn-ea"/>
            </a:endParaRPr>
          </a:p>
        </p:txBody>
      </p:sp>
      <p:sp>
        <p:nvSpPr>
          <p:cNvPr id="11" name="任意多边形 6">
            <a:extLst>
              <a:ext uri="{FF2B5EF4-FFF2-40B4-BE49-F238E27FC236}">
                <a16:creationId xmlns:a16="http://schemas.microsoft.com/office/drawing/2014/main" id="{320A55B0-C246-DBAF-DA2C-813F979E094C}"/>
              </a:ext>
            </a:extLst>
          </p:cNvPr>
          <p:cNvSpPr/>
          <p:nvPr/>
        </p:nvSpPr>
        <p:spPr>
          <a:xfrm>
            <a:off x="4543871" y="1496837"/>
            <a:ext cx="394335" cy="1652905"/>
          </a:xfrm>
          <a:custGeom>
            <a:avLst/>
            <a:gdLst>
              <a:gd name="connsiteX0" fmla="*/ 0 w 621"/>
              <a:gd name="connsiteY0" fmla="*/ 0 h 2603"/>
              <a:gd name="connsiteX1" fmla="*/ 601 w 621"/>
              <a:gd name="connsiteY1" fmla="*/ 391 h 2603"/>
              <a:gd name="connsiteX2" fmla="*/ 621 w 621"/>
              <a:gd name="connsiteY2" fmla="*/ 2603 h 2603"/>
              <a:gd name="connsiteX3" fmla="*/ 41 w 621"/>
              <a:gd name="connsiteY3" fmla="*/ 2251 h 2603"/>
              <a:gd name="connsiteX4" fmla="*/ 0 w 621"/>
              <a:gd name="connsiteY4" fmla="*/ 0 h 2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 h="2603">
                <a:moveTo>
                  <a:pt x="0" y="0"/>
                </a:moveTo>
                <a:lnTo>
                  <a:pt x="601" y="391"/>
                </a:lnTo>
                <a:lnTo>
                  <a:pt x="621" y="2603"/>
                </a:lnTo>
                <a:lnTo>
                  <a:pt x="41" y="2251"/>
                </a:lnTo>
                <a:lnTo>
                  <a:pt x="0" y="0"/>
                </a:lnTo>
                <a:close/>
              </a:path>
            </a:pathLst>
          </a:custGeom>
          <a:solidFill>
            <a:schemeClr val="tx2">
              <a:lumMod val="40000"/>
              <a:lumOff val="60000"/>
            </a:schemeClr>
          </a:solidFill>
          <a:ln>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Arial" panose="020B0604020202020204" pitchFamily="34" charset="0"/>
              <a:cs typeface="Arial" panose="020B0604020202020204" pitchFamily="34" charset="0"/>
              <a:sym typeface="+mn-ea"/>
            </a:endParaRPr>
          </a:p>
        </p:txBody>
      </p:sp>
      <p:sp>
        <p:nvSpPr>
          <p:cNvPr id="14" name="矩形 13">
            <a:extLst>
              <a:ext uri="{FF2B5EF4-FFF2-40B4-BE49-F238E27FC236}">
                <a16:creationId xmlns:a16="http://schemas.microsoft.com/office/drawing/2014/main" id="{D4D4C080-D018-F471-B7A0-489DE2E6A139}"/>
              </a:ext>
            </a:extLst>
          </p:cNvPr>
          <p:cNvSpPr/>
          <p:nvPr/>
        </p:nvSpPr>
        <p:spPr>
          <a:xfrm>
            <a:off x="1328231" y="3385327"/>
            <a:ext cx="2045970" cy="301625"/>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latin typeface="Arial" panose="020B0604020202020204" pitchFamily="34" charset="0"/>
                <a:cs typeface="Arial" panose="020B0604020202020204" pitchFamily="34" charset="0"/>
              </a:rPr>
              <a:t>Anti fraud: quasi real time</a:t>
            </a:r>
          </a:p>
        </p:txBody>
      </p:sp>
      <p:sp>
        <p:nvSpPr>
          <p:cNvPr id="15" name="矩形 14">
            <a:extLst>
              <a:ext uri="{FF2B5EF4-FFF2-40B4-BE49-F238E27FC236}">
                <a16:creationId xmlns:a16="http://schemas.microsoft.com/office/drawing/2014/main" id="{BC762E95-12AD-C33F-8A8E-83FE045DD13E}"/>
              </a:ext>
            </a:extLst>
          </p:cNvPr>
          <p:cNvSpPr/>
          <p:nvPr/>
        </p:nvSpPr>
        <p:spPr>
          <a:xfrm>
            <a:off x="3512631" y="3385327"/>
            <a:ext cx="1873250" cy="301625"/>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a:latin typeface="Arial" panose="020B0604020202020204" pitchFamily="34" charset="0"/>
                <a:cs typeface="Arial" panose="020B0604020202020204" pitchFamily="34" charset="0"/>
              </a:rPr>
              <a:t>Anti money laundering: T+1</a:t>
            </a:r>
          </a:p>
        </p:txBody>
      </p:sp>
      <p:cxnSp>
        <p:nvCxnSpPr>
          <p:cNvPr id="17" name="直接箭头连接符 37">
            <a:extLst>
              <a:ext uri="{FF2B5EF4-FFF2-40B4-BE49-F238E27FC236}">
                <a16:creationId xmlns:a16="http://schemas.microsoft.com/office/drawing/2014/main" id="{1EF27852-87E9-42E8-2F6A-84805725744E}"/>
              </a:ext>
            </a:extLst>
          </p:cNvPr>
          <p:cNvCxnSpPr/>
          <p:nvPr/>
        </p:nvCxnSpPr>
        <p:spPr>
          <a:xfrm flipV="1">
            <a:off x="4938206" y="2282967"/>
            <a:ext cx="676910" cy="4445"/>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18" name="直接箭头连接符 37">
            <a:extLst>
              <a:ext uri="{FF2B5EF4-FFF2-40B4-BE49-F238E27FC236}">
                <a16:creationId xmlns:a16="http://schemas.microsoft.com/office/drawing/2014/main" id="{658A804F-4833-3D00-3E50-9E9EF7028CB7}"/>
              </a:ext>
            </a:extLst>
          </p:cNvPr>
          <p:cNvCxnSpPr/>
          <p:nvPr/>
        </p:nvCxnSpPr>
        <p:spPr>
          <a:xfrm flipV="1">
            <a:off x="3830131" y="2189622"/>
            <a:ext cx="869950"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19" name="直接箭头连接符 37">
            <a:extLst>
              <a:ext uri="{FF2B5EF4-FFF2-40B4-BE49-F238E27FC236}">
                <a16:creationId xmlns:a16="http://schemas.microsoft.com/office/drawing/2014/main" id="{CDE8899B-C178-4CBA-C9BA-F2805C1C7011}"/>
              </a:ext>
            </a:extLst>
          </p:cNvPr>
          <p:cNvCxnSpPr/>
          <p:nvPr/>
        </p:nvCxnSpPr>
        <p:spPr>
          <a:xfrm flipV="1">
            <a:off x="3830131" y="2397902"/>
            <a:ext cx="869950"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0" name="直接箭头连接符 37">
            <a:extLst>
              <a:ext uri="{FF2B5EF4-FFF2-40B4-BE49-F238E27FC236}">
                <a16:creationId xmlns:a16="http://schemas.microsoft.com/office/drawing/2014/main" id="{79A68449-0DD9-4638-EC67-CC0D22B490D7}"/>
              </a:ext>
            </a:extLst>
          </p:cNvPr>
          <p:cNvCxnSpPr/>
          <p:nvPr/>
        </p:nvCxnSpPr>
        <p:spPr>
          <a:xfrm flipV="1">
            <a:off x="2400746" y="197626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1" name="直接箭头连接符 37">
            <a:extLst>
              <a:ext uri="{FF2B5EF4-FFF2-40B4-BE49-F238E27FC236}">
                <a16:creationId xmlns:a16="http://schemas.microsoft.com/office/drawing/2014/main" id="{38792465-2D33-3C58-FEA4-9B2C1D268B90}"/>
              </a:ext>
            </a:extLst>
          </p:cNvPr>
          <p:cNvCxnSpPr/>
          <p:nvPr/>
        </p:nvCxnSpPr>
        <p:spPr>
          <a:xfrm flipV="1">
            <a:off x="2400746" y="218454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2" name="直接箭头连接符 37">
            <a:extLst>
              <a:ext uri="{FF2B5EF4-FFF2-40B4-BE49-F238E27FC236}">
                <a16:creationId xmlns:a16="http://schemas.microsoft.com/office/drawing/2014/main" id="{D582E366-CC87-D620-A333-9783B47B8411}"/>
              </a:ext>
            </a:extLst>
          </p:cNvPr>
          <p:cNvCxnSpPr/>
          <p:nvPr/>
        </p:nvCxnSpPr>
        <p:spPr>
          <a:xfrm flipV="1">
            <a:off x="2400746" y="239282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3" name="直接箭头连接符 37">
            <a:extLst>
              <a:ext uri="{FF2B5EF4-FFF2-40B4-BE49-F238E27FC236}">
                <a16:creationId xmlns:a16="http://schemas.microsoft.com/office/drawing/2014/main" id="{849066A7-4A97-F45D-8471-633E475E7636}"/>
              </a:ext>
            </a:extLst>
          </p:cNvPr>
          <p:cNvCxnSpPr/>
          <p:nvPr/>
        </p:nvCxnSpPr>
        <p:spPr>
          <a:xfrm flipV="1">
            <a:off x="2400746" y="260110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4" name="直接箭头连接符 37">
            <a:extLst>
              <a:ext uri="{FF2B5EF4-FFF2-40B4-BE49-F238E27FC236}">
                <a16:creationId xmlns:a16="http://schemas.microsoft.com/office/drawing/2014/main" id="{7B153786-D045-62A4-70FA-BC8337C72F75}"/>
              </a:ext>
            </a:extLst>
          </p:cNvPr>
          <p:cNvCxnSpPr/>
          <p:nvPr/>
        </p:nvCxnSpPr>
        <p:spPr>
          <a:xfrm flipV="1">
            <a:off x="1110426" y="172734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6" name="直接箭头连接符 37">
            <a:extLst>
              <a:ext uri="{FF2B5EF4-FFF2-40B4-BE49-F238E27FC236}">
                <a16:creationId xmlns:a16="http://schemas.microsoft.com/office/drawing/2014/main" id="{6BDB3578-63FE-85B4-6B0E-439A2024E13B}"/>
              </a:ext>
            </a:extLst>
          </p:cNvPr>
          <p:cNvCxnSpPr/>
          <p:nvPr/>
        </p:nvCxnSpPr>
        <p:spPr>
          <a:xfrm flipV="1">
            <a:off x="1110426" y="214390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7" name="直接箭头连接符 37">
            <a:extLst>
              <a:ext uri="{FF2B5EF4-FFF2-40B4-BE49-F238E27FC236}">
                <a16:creationId xmlns:a16="http://schemas.microsoft.com/office/drawing/2014/main" id="{D19F5C10-90BE-4101-FC02-4D198E9F37D3}"/>
              </a:ext>
            </a:extLst>
          </p:cNvPr>
          <p:cNvCxnSpPr/>
          <p:nvPr/>
        </p:nvCxnSpPr>
        <p:spPr>
          <a:xfrm flipV="1">
            <a:off x="1110426" y="235218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8" name="直接箭头连接符 37">
            <a:extLst>
              <a:ext uri="{FF2B5EF4-FFF2-40B4-BE49-F238E27FC236}">
                <a16:creationId xmlns:a16="http://schemas.microsoft.com/office/drawing/2014/main" id="{3F934844-43D1-FE26-22EE-C9A38C7C2283}"/>
              </a:ext>
            </a:extLst>
          </p:cNvPr>
          <p:cNvCxnSpPr/>
          <p:nvPr/>
        </p:nvCxnSpPr>
        <p:spPr>
          <a:xfrm flipV="1">
            <a:off x="1110426" y="256046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cxnSp>
        <p:nvCxnSpPr>
          <p:cNvPr id="29" name="直接箭头连接符 37">
            <a:extLst>
              <a:ext uri="{FF2B5EF4-FFF2-40B4-BE49-F238E27FC236}">
                <a16:creationId xmlns:a16="http://schemas.microsoft.com/office/drawing/2014/main" id="{1E8A2974-42D2-DF52-27FA-664491ED3875}"/>
              </a:ext>
            </a:extLst>
          </p:cNvPr>
          <p:cNvCxnSpPr/>
          <p:nvPr/>
        </p:nvCxnSpPr>
        <p:spPr>
          <a:xfrm flipV="1">
            <a:off x="1110426" y="2768742"/>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sp>
        <p:nvSpPr>
          <p:cNvPr id="30" name="矩形 29">
            <a:extLst>
              <a:ext uri="{FF2B5EF4-FFF2-40B4-BE49-F238E27FC236}">
                <a16:creationId xmlns:a16="http://schemas.microsoft.com/office/drawing/2014/main" id="{C122FAA9-6EAA-A001-F5B0-8C0844D3B357}"/>
              </a:ext>
            </a:extLst>
          </p:cNvPr>
          <p:cNvSpPr/>
          <p:nvPr/>
        </p:nvSpPr>
        <p:spPr>
          <a:xfrm>
            <a:off x="991096" y="4285678"/>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sz="900" dirty="0">
                <a:latin typeface="Arial" panose="020B0604020202020204" pitchFamily="34" charset="0"/>
                <a:cs typeface="Arial" panose="020B0604020202020204" pitchFamily="34" charset="0"/>
              </a:rPr>
              <a:t>Transaction information              </a:t>
            </a:r>
          </a:p>
        </p:txBody>
      </p:sp>
      <p:sp>
        <p:nvSpPr>
          <p:cNvPr id="31" name="矩形 30">
            <a:extLst>
              <a:ext uri="{FF2B5EF4-FFF2-40B4-BE49-F238E27FC236}">
                <a16:creationId xmlns:a16="http://schemas.microsoft.com/office/drawing/2014/main" id="{CD15A49E-4996-89A3-9B5F-179225EDF6E8}"/>
              </a:ext>
            </a:extLst>
          </p:cNvPr>
          <p:cNvSpPr/>
          <p:nvPr/>
        </p:nvSpPr>
        <p:spPr>
          <a:xfrm>
            <a:off x="2479536" y="4278693"/>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sz="900" dirty="0">
                <a:latin typeface="Arial" panose="020B0604020202020204" pitchFamily="34" charset="0"/>
                <a:cs typeface="Arial" panose="020B0604020202020204" pitchFamily="34" charset="0"/>
                <a:sym typeface="+mn-ea"/>
              </a:rPr>
              <a:t>Static information               </a:t>
            </a:r>
          </a:p>
        </p:txBody>
      </p:sp>
      <p:sp>
        <p:nvSpPr>
          <p:cNvPr id="32" name="矩形 31">
            <a:extLst>
              <a:ext uri="{FF2B5EF4-FFF2-40B4-BE49-F238E27FC236}">
                <a16:creationId xmlns:a16="http://schemas.microsoft.com/office/drawing/2014/main" id="{C522F46D-993F-85A1-A3A0-F100F0F9B56E}"/>
              </a:ext>
            </a:extLst>
          </p:cNvPr>
          <p:cNvSpPr/>
          <p:nvPr/>
        </p:nvSpPr>
        <p:spPr>
          <a:xfrm>
            <a:off x="3967976" y="4288853"/>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sz="900" dirty="0">
                <a:latin typeface="Arial" panose="020B0604020202020204" pitchFamily="34" charset="0"/>
                <a:cs typeface="Arial" panose="020B0604020202020204" pitchFamily="34" charset="0"/>
                <a:sym typeface="+mn-ea"/>
              </a:rPr>
              <a:t>Equipment information              </a:t>
            </a:r>
          </a:p>
        </p:txBody>
      </p:sp>
      <p:sp>
        <p:nvSpPr>
          <p:cNvPr id="33" name="矩形 32">
            <a:extLst>
              <a:ext uri="{FF2B5EF4-FFF2-40B4-BE49-F238E27FC236}">
                <a16:creationId xmlns:a16="http://schemas.microsoft.com/office/drawing/2014/main" id="{95A43E8B-982A-670A-30F5-362078DE1B18}"/>
              </a:ext>
            </a:extLst>
          </p:cNvPr>
          <p:cNvSpPr/>
          <p:nvPr/>
        </p:nvSpPr>
        <p:spPr>
          <a:xfrm>
            <a:off x="5456416" y="4278693"/>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sz="900" dirty="0">
                <a:latin typeface="Arial" panose="020B0604020202020204" pitchFamily="34" charset="0"/>
                <a:cs typeface="Arial" panose="020B0604020202020204" pitchFamily="34" charset="0"/>
                <a:sym typeface="+mn-ea"/>
              </a:rPr>
              <a:t>Position information</a:t>
            </a:r>
          </a:p>
        </p:txBody>
      </p:sp>
      <p:sp>
        <p:nvSpPr>
          <p:cNvPr id="34" name="矩形 33">
            <a:extLst>
              <a:ext uri="{FF2B5EF4-FFF2-40B4-BE49-F238E27FC236}">
                <a16:creationId xmlns:a16="http://schemas.microsoft.com/office/drawing/2014/main" id="{CF5B4622-E089-B01F-05C9-91A90294DDE0}"/>
              </a:ext>
            </a:extLst>
          </p:cNvPr>
          <p:cNvSpPr/>
          <p:nvPr/>
        </p:nvSpPr>
        <p:spPr>
          <a:xfrm>
            <a:off x="6944856" y="4278693"/>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endParaRPr lang="zh-CN" altLang="en-US" sz="900" dirty="0">
              <a:latin typeface="Arial" panose="020B0604020202020204" pitchFamily="34" charset="0"/>
              <a:cs typeface="Arial" panose="020B0604020202020204" pitchFamily="34" charset="0"/>
              <a:sym typeface="+mn-ea"/>
            </a:endParaRPr>
          </a:p>
          <a:p>
            <a:pPr algn="ctr"/>
            <a:r>
              <a:rPr lang="en-US" sz="900" dirty="0">
                <a:latin typeface="Arial" panose="020B0604020202020204" pitchFamily="34" charset="0"/>
                <a:cs typeface="Arial" panose="020B0604020202020204" pitchFamily="34" charset="0"/>
                <a:sym typeface="+mn-ea"/>
              </a:rPr>
              <a:t>Related information</a:t>
            </a:r>
          </a:p>
          <a:p>
            <a:pPr algn="ctr"/>
            <a:endParaRPr lang="zh-CN" altLang="en-US" sz="900" dirty="0">
              <a:latin typeface="Arial" panose="020B0604020202020204" pitchFamily="34" charset="0"/>
              <a:cs typeface="Arial" panose="020B0604020202020204" pitchFamily="34" charset="0"/>
            </a:endParaRPr>
          </a:p>
        </p:txBody>
      </p:sp>
      <p:sp>
        <p:nvSpPr>
          <p:cNvPr id="35" name="矩形 34">
            <a:extLst>
              <a:ext uri="{FF2B5EF4-FFF2-40B4-BE49-F238E27FC236}">
                <a16:creationId xmlns:a16="http://schemas.microsoft.com/office/drawing/2014/main" id="{764851F9-7471-D0C7-812A-D8005FF7043B}"/>
              </a:ext>
            </a:extLst>
          </p:cNvPr>
          <p:cNvSpPr/>
          <p:nvPr/>
        </p:nvSpPr>
        <p:spPr>
          <a:xfrm>
            <a:off x="8433296" y="4278693"/>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sz="900" dirty="0">
                <a:latin typeface="Arial" panose="020B0604020202020204" pitchFamily="34" charset="0"/>
                <a:cs typeface="Arial" panose="020B0604020202020204" pitchFamily="34" charset="0"/>
                <a:sym typeface="+mn-ea"/>
              </a:rPr>
              <a:t>Financial link information           </a:t>
            </a:r>
          </a:p>
        </p:txBody>
      </p:sp>
      <p:sp>
        <p:nvSpPr>
          <p:cNvPr id="36" name="矩形 35">
            <a:extLst>
              <a:ext uri="{FF2B5EF4-FFF2-40B4-BE49-F238E27FC236}">
                <a16:creationId xmlns:a16="http://schemas.microsoft.com/office/drawing/2014/main" id="{CD5A1FFB-0DE2-D4AC-918B-7964722DDE59}"/>
              </a:ext>
            </a:extLst>
          </p:cNvPr>
          <p:cNvSpPr/>
          <p:nvPr/>
        </p:nvSpPr>
        <p:spPr>
          <a:xfrm>
            <a:off x="9921736" y="4285678"/>
            <a:ext cx="1365885" cy="301625"/>
          </a:xfrm>
          <a:prstGeom prst="rect">
            <a:avLst/>
          </a:prstGeom>
          <a:solidFill>
            <a:srgbClr val="CFCBC2"/>
          </a:solidFill>
          <a:ln w="12700">
            <a:solidFill>
              <a:schemeClr val="tx1">
                <a:lumMod val="65000"/>
                <a:lumOff val="35000"/>
              </a:schemeClr>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sz="900" dirty="0">
                <a:latin typeface="Arial" panose="020B0604020202020204" pitchFamily="34" charset="0"/>
                <a:cs typeface="Arial" panose="020B0604020202020204" pitchFamily="34" charset="0"/>
                <a:sym typeface="+mn-ea"/>
              </a:rPr>
              <a:t>Counterparty information</a:t>
            </a:r>
          </a:p>
        </p:txBody>
      </p:sp>
      <p:sp>
        <p:nvSpPr>
          <p:cNvPr id="37" name="椭圆 36">
            <a:extLst>
              <a:ext uri="{FF2B5EF4-FFF2-40B4-BE49-F238E27FC236}">
                <a16:creationId xmlns:a16="http://schemas.microsoft.com/office/drawing/2014/main" id="{FD16BB3E-2818-3DAE-C236-9F5D23F200D0}"/>
              </a:ext>
            </a:extLst>
          </p:cNvPr>
          <p:cNvSpPr/>
          <p:nvPr/>
        </p:nvSpPr>
        <p:spPr>
          <a:xfrm>
            <a:off x="6664186" y="4704778"/>
            <a:ext cx="2261870" cy="34226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900">
              <a:latin typeface="Arial" panose="020B0604020202020204" pitchFamily="34" charset="0"/>
              <a:cs typeface="Arial" panose="020B0604020202020204" pitchFamily="34" charset="0"/>
            </a:endParaRPr>
          </a:p>
        </p:txBody>
      </p:sp>
      <p:sp>
        <p:nvSpPr>
          <p:cNvPr id="38" name="椭圆 37">
            <a:extLst>
              <a:ext uri="{FF2B5EF4-FFF2-40B4-BE49-F238E27FC236}">
                <a16:creationId xmlns:a16="http://schemas.microsoft.com/office/drawing/2014/main" id="{4A4B5007-B2A3-51DD-D19B-894D6C38B4B4}"/>
              </a:ext>
            </a:extLst>
          </p:cNvPr>
          <p:cNvSpPr/>
          <p:nvPr/>
        </p:nvSpPr>
        <p:spPr>
          <a:xfrm>
            <a:off x="8091666" y="5047043"/>
            <a:ext cx="3039110" cy="41338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9" name="椭圆 38">
            <a:extLst>
              <a:ext uri="{FF2B5EF4-FFF2-40B4-BE49-F238E27FC236}">
                <a16:creationId xmlns:a16="http://schemas.microsoft.com/office/drawing/2014/main" id="{650777BF-6C29-5413-369D-6D494C7C9204}"/>
              </a:ext>
            </a:extLst>
          </p:cNvPr>
          <p:cNvSpPr/>
          <p:nvPr/>
        </p:nvSpPr>
        <p:spPr>
          <a:xfrm>
            <a:off x="8846046" y="5634418"/>
            <a:ext cx="2033905" cy="671830"/>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0" name="椭圆 39">
            <a:extLst>
              <a:ext uri="{FF2B5EF4-FFF2-40B4-BE49-F238E27FC236}">
                <a16:creationId xmlns:a16="http://schemas.microsoft.com/office/drawing/2014/main" id="{2E54E391-7BBD-5094-C626-2D0F33E32773}"/>
              </a:ext>
            </a:extLst>
          </p:cNvPr>
          <p:cNvSpPr/>
          <p:nvPr/>
        </p:nvSpPr>
        <p:spPr>
          <a:xfrm>
            <a:off x="6236196" y="5525198"/>
            <a:ext cx="2291715" cy="34226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1" name="椭圆 40">
            <a:extLst>
              <a:ext uri="{FF2B5EF4-FFF2-40B4-BE49-F238E27FC236}">
                <a16:creationId xmlns:a16="http://schemas.microsoft.com/office/drawing/2014/main" id="{DB2A0C33-611F-7116-93CC-7AB5FF9B2533}"/>
              </a:ext>
            </a:extLst>
          </p:cNvPr>
          <p:cNvSpPr/>
          <p:nvPr/>
        </p:nvSpPr>
        <p:spPr>
          <a:xfrm>
            <a:off x="5876786" y="6136703"/>
            <a:ext cx="3049905" cy="34226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2" name="椭圆 41">
            <a:extLst>
              <a:ext uri="{FF2B5EF4-FFF2-40B4-BE49-F238E27FC236}">
                <a16:creationId xmlns:a16="http://schemas.microsoft.com/office/drawing/2014/main" id="{D1BD88AA-6550-9D38-72CC-856428564708}"/>
              </a:ext>
            </a:extLst>
          </p:cNvPr>
          <p:cNvSpPr/>
          <p:nvPr/>
        </p:nvSpPr>
        <p:spPr>
          <a:xfrm>
            <a:off x="4521696" y="5238813"/>
            <a:ext cx="2261870" cy="34226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3" name="椭圆 42">
            <a:extLst>
              <a:ext uri="{FF2B5EF4-FFF2-40B4-BE49-F238E27FC236}">
                <a16:creationId xmlns:a16="http://schemas.microsoft.com/office/drawing/2014/main" id="{BD0E9D9D-F0AF-1461-01AE-3CEB143B1BFF}"/>
              </a:ext>
            </a:extLst>
          </p:cNvPr>
          <p:cNvSpPr/>
          <p:nvPr/>
        </p:nvSpPr>
        <p:spPr>
          <a:xfrm>
            <a:off x="2587486" y="4654613"/>
            <a:ext cx="2338070" cy="317500"/>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4" name="椭圆 43">
            <a:extLst>
              <a:ext uri="{FF2B5EF4-FFF2-40B4-BE49-F238E27FC236}">
                <a16:creationId xmlns:a16="http://schemas.microsoft.com/office/drawing/2014/main" id="{EB6F1714-AAA6-4E59-8FB1-AA40200DC813}"/>
              </a:ext>
            </a:extLst>
          </p:cNvPr>
          <p:cNvSpPr/>
          <p:nvPr/>
        </p:nvSpPr>
        <p:spPr>
          <a:xfrm>
            <a:off x="1059676" y="5824918"/>
            <a:ext cx="2337435" cy="311150"/>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5" name="椭圆 44">
            <a:extLst>
              <a:ext uri="{FF2B5EF4-FFF2-40B4-BE49-F238E27FC236}">
                <a16:creationId xmlns:a16="http://schemas.microsoft.com/office/drawing/2014/main" id="{8E19F246-5469-330F-BA3F-46B241F12839}"/>
              </a:ext>
            </a:extLst>
          </p:cNvPr>
          <p:cNvSpPr/>
          <p:nvPr/>
        </p:nvSpPr>
        <p:spPr>
          <a:xfrm>
            <a:off x="876161" y="4984178"/>
            <a:ext cx="3141980" cy="374650"/>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6" name="椭圆 45">
            <a:extLst>
              <a:ext uri="{FF2B5EF4-FFF2-40B4-BE49-F238E27FC236}">
                <a16:creationId xmlns:a16="http://schemas.microsoft.com/office/drawing/2014/main" id="{E4B3C487-D680-1888-D18F-6BB9E67F93E2}"/>
              </a:ext>
            </a:extLst>
          </p:cNvPr>
          <p:cNvSpPr/>
          <p:nvPr/>
        </p:nvSpPr>
        <p:spPr>
          <a:xfrm>
            <a:off x="2259826" y="5431853"/>
            <a:ext cx="2261870" cy="34226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7" name="椭圆 46">
            <a:extLst>
              <a:ext uri="{FF2B5EF4-FFF2-40B4-BE49-F238E27FC236}">
                <a16:creationId xmlns:a16="http://schemas.microsoft.com/office/drawing/2014/main" id="{801F981D-15A0-C039-B295-DF030CC4EC7C}"/>
              </a:ext>
            </a:extLst>
          </p:cNvPr>
          <p:cNvSpPr/>
          <p:nvPr/>
        </p:nvSpPr>
        <p:spPr>
          <a:xfrm>
            <a:off x="2124571" y="6182423"/>
            <a:ext cx="3402330" cy="342265"/>
          </a:xfrm>
          <a:prstGeom prst="ellipse">
            <a:avLst/>
          </a:prstGeom>
          <a:noFill/>
          <a:ln w="15875" cmpd="sng">
            <a:solidFill>
              <a:schemeClr val="accent1">
                <a:shade val="50000"/>
              </a:schemeClr>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8" name="右大括号 47">
            <a:extLst>
              <a:ext uri="{FF2B5EF4-FFF2-40B4-BE49-F238E27FC236}">
                <a16:creationId xmlns:a16="http://schemas.microsoft.com/office/drawing/2014/main" id="{F16BA0D0-D459-24E6-A2C0-C45015E7BED9}"/>
              </a:ext>
            </a:extLst>
          </p:cNvPr>
          <p:cNvSpPr/>
          <p:nvPr/>
        </p:nvSpPr>
        <p:spPr>
          <a:xfrm rot="5400000">
            <a:off x="3630106" y="1435877"/>
            <a:ext cx="205105" cy="3418205"/>
          </a:xfrm>
          <a:prstGeom prst="rightBrace">
            <a:avLst/>
          </a:prstGeom>
          <a:ln w="952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9" name="右大括号 48">
            <a:extLst>
              <a:ext uri="{FF2B5EF4-FFF2-40B4-BE49-F238E27FC236}">
                <a16:creationId xmlns:a16="http://schemas.microsoft.com/office/drawing/2014/main" id="{B41E639A-C9DB-6F42-2EF7-49D0A75B216A}"/>
              </a:ext>
            </a:extLst>
          </p:cNvPr>
          <p:cNvSpPr/>
          <p:nvPr/>
        </p:nvSpPr>
        <p:spPr>
          <a:xfrm rot="5400000">
            <a:off x="3045906" y="1543192"/>
            <a:ext cx="205105" cy="3418205"/>
          </a:xfrm>
          <a:prstGeom prst="rightBrace">
            <a:avLst/>
          </a:prstGeom>
          <a:ln w="9525">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Arial" panose="020B0604020202020204" pitchFamily="34" charset="0"/>
              <a:cs typeface="Arial" panose="020B0604020202020204" pitchFamily="34" charset="0"/>
            </a:endParaRPr>
          </a:p>
        </p:txBody>
      </p:sp>
      <p:cxnSp>
        <p:nvCxnSpPr>
          <p:cNvPr id="70" name="直接箭头连接符 37">
            <a:extLst>
              <a:ext uri="{FF2B5EF4-FFF2-40B4-BE49-F238E27FC236}">
                <a16:creationId xmlns:a16="http://schemas.microsoft.com/office/drawing/2014/main" id="{6068A058-A25D-96C0-4C45-34EB9621395A}"/>
              </a:ext>
            </a:extLst>
          </p:cNvPr>
          <p:cNvCxnSpPr/>
          <p:nvPr/>
        </p:nvCxnSpPr>
        <p:spPr>
          <a:xfrm flipV="1">
            <a:off x="1110426" y="1941337"/>
            <a:ext cx="973455" cy="5080"/>
          </a:xfrm>
          <a:prstGeom prst="straightConnector1">
            <a:avLst/>
          </a:prstGeom>
          <a:ln w="19050" cmpd="sng">
            <a:solidFill>
              <a:srgbClr val="2D53AC"/>
            </a:solidFill>
            <a:prstDash val="dash"/>
            <a:headEnd type="none" w="med" len="sm"/>
            <a:tailEnd type="triangle"/>
          </a:ln>
        </p:spPr>
        <p:style>
          <a:lnRef idx="2">
            <a:schemeClr val="accent1"/>
          </a:lnRef>
          <a:fillRef idx="0">
            <a:srgbClr val="FFFFFF"/>
          </a:fillRef>
          <a:effectRef idx="0">
            <a:srgbClr val="FFFFFF"/>
          </a:effectRef>
          <a:fontRef idx="minor">
            <a:schemeClr val="tx1"/>
          </a:fontRef>
        </p:style>
      </p:cxnSp>
      <p:sp>
        <p:nvSpPr>
          <p:cNvPr id="80" name="文本框 79">
            <a:extLst>
              <a:ext uri="{FF2B5EF4-FFF2-40B4-BE49-F238E27FC236}">
                <a16:creationId xmlns:a16="http://schemas.microsoft.com/office/drawing/2014/main" id="{BD85D106-D851-6570-D092-644A600F4FD0}"/>
              </a:ext>
            </a:extLst>
          </p:cNvPr>
          <p:cNvSpPr txBox="1"/>
          <p:nvPr/>
        </p:nvSpPr>
        <p:spPr>
          <a:xfrm>
            <a:off x="1110426" y="1236487"/>
            <a:ext cx="1066919" cy="246221"/>
          </a:xfrm>
          <a:prstGeom prst="rect">
            <a:avLst/>
          </a:prstGeom>
        </p:spPr>
        <p:txBody>
          <a:bodyPr wrap="square">
            <a:spAutoFit/>
          </a:bodyPr>
          <a:lstStyle/>
          <a:p>
            <a:pPr indent="0" algn="just" defTabSz="266700">
              <a:spcAft>
                <a:spcPct val="0"/>
              </a:spcAft>
            </a:pPr>
            <a:r>
              <a:rPr lang="en-US" sz="1000" b="1" dirty="0">
                <a:latin typeface="Arial" panose="020B0604020202020204" pitchFamily="34" charset="0"/>
                <a:cs typeface="Arial" panose="020B0604020202020204" pitchFamily="34" charset="0"/>
              </a:rPr>
              <a:t>Transaction</a:t>
            </a:r>
          </a:p>
        </p:txBody>
      </p:sp>
      <p:sp>
        <p:nvSpPr>
          <p:cNvPr id="81" name="文本框 80">
            <a:extLst>
              <a:ext uri="{FF2B5EF4-FFF2-40B4-BE49-F238E27FC236}">
                <a16:creationId xmlns:a16="http://schemas.microsoft.com/office/drawing/2014/main" id="{36CF3296-73D5-923C-4F08-071CD69FB91D}"/>
              </a:ext>
            </a:extLst>
          </p:cNvPr>
          <p:cNvSpPr txBox="1"/>
          <p:nvPr/>
        </p:nvSpPr>
        <p:spPr>
          <a:xfrm>
            <a:off x="2326451" y="1236487"/>
            <a:ext cx="1285240" cy="246221"/>
          </a:xfrm>
          <a:prstGeom prst="rect">
            <a:avLst/>
          </a:prstGeom>
        </p:spPr>
        <p:txBody>
          <a:bodyPr wrap="square">
            <a:spAutoFit/>
          </a:bodyPr>
          <a:lstStyle/>
          <a:p>
            <a:pPr indent="0" algn="just" defTabSz="266700">
              <a:spcAft>
                <a:spcPct val="0"/>
              </a:spcAft>
            </a:pPr>
            <a:r>
              <a:rPr lang="en-US" sz="1000" b="1" dirty="0">
                <a:latin typeface="Arial" panose="020B0604020202020204" pitchFamily="34" charset="0"/>
                <a:cs typeface="Arial" panose="020B0604020202020204" pitchFamily="34" charset="0"/>
              </a:rPr>
              <a:t>List screening</a:t>
            </a:r>
          </a:p>
        </p:txBody>
      </p:sp>
      <p:sp>
        <p:nvSpPr>
          <p:cNvPr id="82" name="文本框 81">
            <a:extLst>
              <a:ext uri="{FF2B5EF4-FFF2-40B4-BE49-F238E27FC236}">
                <a16:creationId xmlns:a16="http://schemas.microsoft.com/office/drawing/2014/main" id="{8EA07C9E-6AEA-7B90-E47B-16AD4FEAD428}"/>
              </a:ext>
            </a:extLst>
          </p:cNvPr>
          <p:cNvSpPr txBox="1"/>
          <p:nvPr/>
        </p:nvSpPr>
        <p:spPr>
          <a:xfrm>
            <a:off x="3512630" y="1236487"/>
            <a:ext cx="1281973" cy="246221"/>
          </a:xfrm>
          <a:prstGeom prst="rect">
            <a:avLst/>
          </a:prstGeom>
        </p:spPr>
        <p:txBody>
          <a:bodyPr wrap="square">
            <a:spAutoFit/>
          </a:bodyPr>
          <a:lstStyle/>
          <a:p>
            <a:pPr indent="0" algn="just" defTabSz="266700">
              <a:spcAft>
                <a:spcPct val="0"/>
              </a:spcAft>
            </a:pPr>
            <a:r>
              <a:rPr lang="en-US" sz="1000" b="1" dirty="0">
                <a:latin typeface="Arial" panose="020B0604020202020204" pitchFamily="34" charset="0"/>
                <a:cs typeface="Arial" panose="020B0604020202020204" pitchFamily="34" charset="0"/>
              </a:rPr>
              <a:t>Rule matching</a:t>
            </a:r>
          </a:p>
        </p:txBody>
      </p:sp>
      <p:sp>
        <p:nvSpPr>
          <p:cNvPr id="83" name="文本框 82">
            <a:extLst>
              <a:ext uri="{FF2B5EF4-FFF2-40B4-BE49-F238E27FC236}">
                <a16:creationId xmlns:a16="http://schemas.microsoft.com/office/drawing/2014/main" id="{DF730D5E-9F3F-5D8F-2477-4D4BC3FB048B}"/>
              </a:ext>
            </a:extLst>
          </p:cNvPr>
          <p:cNvSpPr txBox="1"/>
          <p:nvPr/>
        </p:nvSpPr>
        <p:spPr>
          <a:xfrm>
            <a:off x="4651821" y="1236487"/>
            <a:ext cx="1423009" cy="400110"/>
          </a:xfrm>
          <a:prstGeom prst="rect">
            <a:avLst/>
          </a:prstGeom>
        </p:spPr>
        <p:txBody>
          <a:bodyPr wrap="square">
            <a:spAutoFit/>
          </a:bodyPr>
          <a:lstStyle/>
          <a:p>
            <a:pPr indent="0" algn="ctr" defTabSz="266700">
              <a:spcAft>
                <a:spcPct val="0"/>
              </a:spcAft>
            </a:pPr>
            <a:r>
              <a:rPr lang="en-US" sz="1000" b="1" dirty="0">
                <a:latin typeface="Arial" panose="020B0604020202020204" pitchFamily="34" charset="0"/>
                <a:cs typeface="Arial" panose="020B0604020202020204" pitchFamily="34" charset="0"/>
              </a:rPr>
              <a:t>Intelligent model monitoring</a:t>
            </a:r>
          </a:p>
        </p:txBody>
      </p:sp>
      <p:sp>
        <p:nvSpPr>
          <p:cNvPr id="84" name="文本框 83">
            <a:extLst>
              <a:ext uri="{FF2B5EF4-FFF2-40B4-BE49-F238E27FC236}">
                <a16:creationId xmlns:a16="http://schemas.microsoft.com/office/drawing/2014/main" id="{6E3A565D-4A35-D19E-F172-A7F2AEB177C0}"/>
              </a:ext>
            </a:extLst>
          </p:cNvPr>
          <p:cNvSpPr txBox="1"/>
          <p:nvPr/>
        </p:nvSpPr>
        <p:spPr>
          <a:xfrm>
            <a:off x="6698476" y="4707516"/>
            <a:ext cx="2147570" cy="307777"/>
          </a:xfrm>
          <a:prstGeom prst="rect">
            <a:avLst/>
          </a:prstGeom>
          <a:noFill/>
        </p:spPr>
        <p:txBody>
          <a:bodyPr wrap="square" rtlCol="0" anchor="t">
            <a:spAutoFit/>
          </a:bodyPr>
          <a:lstStyle/>
          <a:p>
            <a:pPr algn="ctr">
              <a:lnSpc>
                <a:spcPct val="100000"/>
              </a:lnSpc>
            </a:pPr>
            <a:r>
              <a:rPr lang="en-US" sz="700" b="1" dirty="0">
                <a:latin typeface="Arial" panose="020B0604020202020204" pitchFamily="34" charset="0"/>
                <a:cs typeface="Arial" panose="020B0604020202020204" pitchFamily="34" charset="0"/>
                <a:sym typeface="+mn-ea"/>
              </a:rPr>
              <a:t>Operation time</a:t>
            </a:r>
          </a:p>
          <a:p>
            <a:pPr algn="ctr">
              <a:lnSpc>
                <a:spcPct val="100000"/>
              </a:lnSpc>
            </a:pPr>
            <a:r>
              <a:rPr lang="en-US" sz="700" dirty="0">
                <a:latin typeface="Arial" panose="020B0604020202020204" pitchFamily="34" charset="0"/>
                <a:cs typeface="Arial" panose="020B0604020202020204" pitchFamily="34" charset="0"/>
                <a:sym typeface="+mn-ea"/>
              </a:rPr>
              <a:t>Non working hours, midnight, holidays</a:t>
            </a:r>
          </a:p>
        </p:txBody>
      </p:sp>
      <p:sp>
        <p:nvSpPr>
          <p:cNvPr id="85" name="文本框 84">
            <a:extLst>
              <a:ext uri="{FF2B5EF4-FFF2-40B4-BE49-F238E27FC236}">
                <a16:creationId xmlns:a16="http://schemas.microsoft.com/office/drawing/2014/main" id="{75272A9C-E73F-0A6E-D1AD-8CEA83F0A265}"/>
              </a:ext>
            </a:extLst>
          </p:cNvPr>
          <p:cNvSpPr txBox="1"/>
          <p:nvPr/>
        </p:nvSpPr>
        <p:spPr>
          <a:xfrm>
            <a:off x="2667496" y="4642792"/>
            <a:ext cx="2147570" cy="329321"/>
          </a:xfrm>
          <a:prstGeom prst="rect">
            <a:avLst/>
          </a:prstGeom>
          <a:noFill/>
        </p:spPr>
        <p:txBody>
          <a:bodyPr wrap="square" rtlCol="0" anchor="t">
            <a:spAutoFit/>
          </a:bodyPr>
          <a:lstStyle/>
          <a:p>
            <a:pPr algn="ctr">
              <a:lnSpc>
                <a:spcPct val="110000"/>
              </a:lnSpc>
            </a:pPr>
            <a:r>
              <a:rPr lang="en-US" sz="700" b="1" dirty="0">
                <a:latin typeface="Arial" panose="020B0604020202020204" pitchFamily="34" charset="0"/>
                <a:cs typeface="Arial" panose="020B0604020202020204" pitchFamily="34" charset="0"/>
                <a:sym typeface="+mn-ea"/>
              </a:rPr>
              <a:t>Amount of money</a:t>
            </a:r>
          </a:p>
          <a:p>
            <a:pPr algn="ctr">
              <a:lnSpc>
                <a:spcPct val="110000"/>
              </a:lnSpc>
            </a:pPr>
            <a:r>
              <a:rPr lang="en-US" sz="700" dirty="0">
                <a:latin typeface="Arial" panose="020B0604020202020204" pitchFamily="34" charset="0"/>
                <a:cs typeface="Arial" panose="020B0604020202020204" pitchFamily="34" charset="0"/>
                <a:sym typeface="+mn-ea"/>
              </a:rPr>
              <a:t>Single transaction, cumulative, limit </a:t>
            </a:r>
          </a:p>
        </p:txBody>
      </p:sp>
      <p:sp>
        <p:nvSpPr>
          <p:cNvPr id="86" name="文本框 85">
            <a:extLst>
              <a:ext uri="{FF2B5EF4-FFF2-40B4-BE49-F238E27FC236}">
                <a16:creationId xmlns:a16="http://schemas.microsoft.com/office/drawing/2014/main" id="{77B23262-3250-C3BC-787A-587926A7FE04}"/>
              </a:ext>
            </a:extLst>
          </p:cNvPr>
          <p:cNvSpPr txBox="1"/>
          <p:nvPr/>
        </p:nvSpPr>
        <p:spPr>
          <a:xfrm>
            <a:off x="2387779" y="5425676"/>
            <a:ext cx="1993265" cy="350865"/>
          </a:xfrm>
          <a:prstGeom prst="rect">
            <a:avLst/>
          </a:prstGeom>
          <a:noFill/>
        </p:spPr>
        <p:txBody>
          <a:bodyPr wrap="square" rtlCol="0" anchor="t">
            <a:spAutoFit/>
          </a:bodyPr>
          <a:lstStyle>
            <a:defPPr>
              <a:defRPr lang="zh-CN"/>
            </a:defPPr>
            <a:lvl1pPr algn="ctr">
              <a:lnSpc>
                <a:spcPct val="80000"/>
              </a:lnSpc>
              <a:defRPr sz="700">
                <a:latin typeface="Arial" panose="020B0604020202020204" pitchFamily="34" charset="0"/>
                <a:cs typeface="Arial" panose="020B0604020202020204" pitchFamily="34" charset="0"/>
              </a:defRPr>
            </a:lvl1pPr>
          </a:lstStyle>
          <a:p>
            <a:r>
              <a:rPr lang="en-US" b="1" dirty="0">
                <a:sym typeface="+mn-ea"/>
              </a:rPr>
              <a:t>Bit weight data</a:t>
            </a:r>
          </a:p>
          <a:p>
            <a:r>
              <a:rPr lang="en-US" dirty="0">
                <a:sym typeface="+mn-ea"/>
              </a:rPr>
              <a:t>Bit weight resolution, number attribution operator bit weight</a:t>
            </a:r>
          </a:p>
        </p:txBody>
      </p:sp>
      <p:sp>
        <p:nvSpPr>
          <p:cNvPr id="87" name="文本框 86">
            <a:extLst>
              <a:ext uri="{FF2B5EF4-FFF2-40B4-BE49-F238E27FC236}">
                <a16:creationId xmlns:a16="http://schemas.microsoft.com/office/drawing/2014/main" id="{7B7C3607-1D68-9537-416C-FFBD4ED7FE41}"/>
              </a:ext>
            </a:extLst>
          </p:cNvPr>
          <p:cNvSpPr txBox="1"/>
          <p:nvPr/>
        </p:nvSpPr>
        <p:spPr>
          <a:xfrm>
            <a:off x="4590276" y="5235148"/>
            <a:ext cx="2147570" cy="350865"/>
          </a:xfrm>
          <a:prstGeom prst="rect">
            <a:avLst/>
          </a:prstGeom>
          <a:noFill/>
        </p:spPr>
        <p:txBody>
          <a:bodyPr wrap="square" rtlCol="0" anchor="t">
            <a:spAutoFit/>
          </a:bodyPr>
          <a:lstStyle/>
          <a:p>
            <a:pPr algn="ctr">
              <a:lnSpc>
                <a:spcPct val="80000"/>
              </a:lnSpc>
            </a:pPr>
            <a:r>
              <a:rPr lang="en-US" sz="700" b="1" dirty="0">
                <a:latin typeface="Arial" panose="020B0604020202020204" pitchFamily="34" charset="0"/>
                <a:cs typeface="Arial" panose="020B0604020202020204" pitchFamily="34" charset="0"/>
                <a:sym typeface="+mn-ea"/>
              </a:rPr>
              <a:t>Operating equipment</a:t>
            </a:r>
          </a:p>
          <a:p>
            <a:pPr algn="ctr">
              <a:lnSpc>
                <a:spcPct val="80000"/>
              </a:lnSpc>
            </a:pPr>
            <a:r>
              <a:rPr lang="en-US" sz="700" dirty="0">
                <a:latin typeface="Arial" panose="020B0604020202020204" pitchFamily="34" charset="0"/>
                <a:cs typeface="Arial" panose="020B0604020202020204" pitchFamily="34" charset="0"/>
                <a:sym typeface="+mn-ea"/>
              </a:rPr>
              <a:t>Equipment, previously used equipment, trusted equipment</a:t>
            </a:r>
          </a:p>
        </p:txBody>
      </p:sp>
      <p:sp>
        <p:nvSpPr>
          <p:cNvPr id="88" name="文本框 87">
            <a:extLst>
              <a:ext uri="{FF2B5EF4-FFF2-40B4-BE49-F238E27FC236}">
                <a16:creationId xmlns:a16="http://schemas.microsoft.com/office/drawing/2014/main" id="{44D04E2C-951F-D979-8D3C-1A14FE850772}"/>
              </a:ext>
            </a:extLst>
          </p:cNvPr>
          <p:cNvSpPr txBox="1"/>
          <p:nvPr/>
        </p:nvSpPr>
        <p:spPr>
          <a:xfrm>
            <a:off x="991096" y="4972113"/>
            <a:ext cx="3027045" cy="372410"/>
          </a:xfrm>
          <a:prstGeom prst="rect">
            <a:avLst/>
          </a:prstGeom>
          <a:noFill/>
        </p:spPr>
        <p:txBody>
          <a:bodyPr wrap="square" rtlCol="0" anchor="t">
            <a:spAutoFit/>
          </a:bodyPr>
          <a:lstStyle/>
          <a:p>
            <a:pPr algn="ctr">
              <a:lnSpc>
                <a:spcPct val="100000"/>
              </a:lnSpc>
            </a:pPr>
            <a:r>
              <a:rPr lang="en-US" sz="700" b="1" dirty="0">
                <a:latin typeface="Arial" panose="020B0604020202020204" pitchFamily="34" charset="0"/>
                <a:cs typeface="Arial" panose="020B0604020202020204" pitchFamily="34" charset="0"/>
                <a:sym typeface="+mn-ea"/>
              </a:rPr>
              <a:t>Essential information</a:t>
            </a:r>
          </a:p>
          <a:p>
            <a:pPr algn="ctr">
              <a:lnSpc>
                <a:spcPct val="80000"/>
              </a:lnSpc>
            </a:pPr>
            <a:r>
              <a:rPr lang="en-US" sz="700" dirty="0">
                <a:latin typeface="Arial" panose="020B0604020202020204" pitchFamily="34" charset="0"/>
                <a:cs typeface="Arial" panose="020B0604020202020204" pitchFamily="34" charset="0"/>
                <a:sym typeface="+mn-ea"/>
              </a:rPr>
              <a:t>Name, ID card, phone number, home address, company name, company address</a:t>
            </a:r>
          </a:p>
        </p:txBody>
      </p:sp>
      <p:sp>
        <p:nvSpPr>
          <p:cNvPr id="89" name="文本框 88">
            <a:extLst>
              <a:ext uri="{FF2B5EF4-FFF2-40B4-BE49-F238E27FC236}">
                <a16:creationId xmlns:a16="http://schemas.microsoft.com/office/drawing/2014/main" id="{5CCF78BA-B7C8-B391-050B-325CB67FE6E0}"/>
              </a:ext>
            </a:extLst>
          </p:cNvPr>
          <p:cNvSpPr txBox="1"/>
          <p:nvPr/>
        </p:nvSpPr>
        <p:spPr>
          <a:xfrm>
            <a:off x="6380341" y="5551092"/>
            <a:ext cx="2147570" cy="264688"/>
          </a:xfrm>
          <a:prstGeom prst="rect">
            <a:avLst/>
          </a:prstGeom>
          <a:noFill/>
        </p:spPr>
        <p:txBody>
          <a:bodyPr wrap="square" rtlCol="0" anchor="t">
            <a:spAutoFit/>
          </a:bodyPr>
          <a:lstStyle/>
          <a:p>
            <a:pPr algn="ctr">
              <a:lnSpc>
                <a:spcPct val="80000"/>
              </a:lnSpc>
            </a:pPr>
            <a:r>
              <a:rPr lang="en-US" sz="700" b="1" dirty="0">
                <a:latin typeface="Arial" panose="020B0604020202020204" pitchFamily="34" charset="0"/>
                <a:cs typeface="Arial" panose="020B0604020202020204" pitchFamily="34" charset="0"/>
                <a:sym typeface="+mn-ea"/>
              </a:rPr>
              <a:t>Terminal</a:t>
            </a:r>
          </a:p>
          <a:p>
            <a:pPr algn="ctr">
              <a:lnSpc>
                <a:spcPct val="80000"/>
              </a:lnSpc>
            </a:pPr>
            <a:r>
              <a:rPr lang="en-US" sz="700" dirty="0">
                <a:latin typeface="Arial" panose="020B0604020202020204" pitchFamily="34" charset="0"/>
                <a:cs typeface="Arial" panose="020B0604020202020204" pitchFamily="34" charset="0"/>
                <a:sym typeface="+mn-ea"/>
              </a:rPr>
              <a:t>Proxy IP/VPN IP, </a:t>
            </a:r>
            <a:r>
              <a:rPr lang="en-US" sz="700" dirty="0" err="1">
                <a:latin typeface="Arial" panose="020B0604020202020204" pitchFamily="34" charset="0"/>
                <a:cs typeface="Arial" panose="020B0604020202020204" pitchFamily="34" charset="0"/>
                <a:sym typeface="+mn-ea"/>
              </a:rPr>
              <a:t>IDCIP</a:t>
            </a:r>
            <a:r>
              <a:rPr lang="en-US" sz="700" dirty="0">
                <a:latin typeface="Arial" panose="020B0604020202020204" pitchFamily="34" charset="0"/>
                <a:cs typeface="Arial" panose="020B0604020202020204" pitchFamily="34" charset="0"/>
                <a:sym typeface="+mn-ea"/>
              </a:rPr>
              <a:t>, no backup fingerprint</a:t>
            </a:r>
          </a:p>
        </p:txBody>
      </p:sp>
      <p:sp>
        <p:nvSpPr>
          <p:cNvPr id="90" name="文本框 89">
            <a:extLst>
              <a:ext uri="{FF2B5EF4-FFF2-40B4-BE49-F238E27FC236}">
                <a16:creationId xmlns:a16="http://schemas.microsoft.com/office/drawing/2014/main" id="{7D86B4A7-6D9B-44BF-89D4-B4B0DA2DEE70}"/>
              </a:ext>
            </a:extLst>
          </p:cNvPr>
          <p:cNvSpPr txBox="1"/>
          <p:nvPr/>
        </p:nvSpPr>
        <p:spPr>
          <a:xfrm>
            <a:off x="8091666" y="5047043"/>
            <a:ext cx="2989580" cy="447815"/>
          </a:xfrm>
          <a:prstGeom prst="rect">
            <a:avLst/>
          </a:prstGeom>
          <a:noFill/>
        </p:spPr>
        <p:txBody>
          <a:bodyPr wrap="square" rtlCol="0" anchor="t">
            <a:spAutoFit/>
          </a:bodyPr>
          <a:lstStyle/>
          <a:p>
            <a:pPr algn="ctr">
              <a:lnSpc>
                <a:spcPct val="110000"/>
              </a:lnSpc>
            </a:pPr>
            <a:r>
              <a:rPr lang="en-US" sz="700" b="1" dirty="0">
                <a:latin typeface="Arial" panose="020B0604020202020204" pitchFamily="34" charset="0"/>
                <a:cs typeface="Arial" panose="020B0604020202020204" pitchFamily="34" charset="0"/>
                <a:sym typeface="+mn-ea"/>
              </a:rPr>
              <a:t>Authentication method</a:t>
            </a:r>
          </a:p>
          <a:p>
            <a:pPr algn="ctr">
              <a:lnSpc>
                <a:spcPct val="110000"/>
              </a:lnSpc>
            </a:pPr>
            <a:r>
              <a:rPr lang="en-US" sz="700" dirty="0">
                <a:latin typeface="Arial" panose="020B0604020202020204" pitchFamily="34" charset="0"/>
                <a:cs typeface="Arial" panose="020B0604020202020204" pitchFamily="34" charset="0"/>
                <a:sym typeface="+mn-ea"/>
              </a:rPr>
              <a:t>Login empty code, payment password, gesture, </a:t>
            </a:r>
            <a:r>
              <a:rPr lang="en-US" sz="700" dirty="0" err="1">
                <a:latin typeface="Arial" panose="020B0604020202020204" pitchFamily="34" charset="0"/>
                <a:cs typeface="Arial" panose="020B0604020202020204" pitchFamily="34" charset="0"/>
                <a:sym typeface="+mn-ea"/>
              </a:rPr>
              <a:t>SMS</a:t>
            </a:r>
            <a:r>
              <a:rPr lang="en-US" sz="700" dirty="0">
                <a:latin typeface="Arial" panose="020B0604020202020204" pitchFamily="34" charset="0"/>
                <a:cs typeface="Arial" panose="020B0604020202020204" pitchFamily="34" charset="0"/>
                <a:sym typeface="+mn-ea"/>
              </a:rPr>
              <a:t>, personal insurance, UK, cloud certificate</a:t>
            </a:r>
          </a:p>
        </p:txBody>
      </p:sp>
      <p:sp>
        <p:nvSpPr>
          <p:cNvPr id="91" name="文本框 90">
            <a:extLst>
              <a:ext uri="{FF2B5EF4-FFF2-40B4-BE49-F238E27FC236}">
                <a16:creationId xmlns:a16="http://schemas.microsoft.com/office/drawing/2014/main" id="{AF057F41-B0B1-2F78-5ADC-90D957EA38E6}"/>
              </a:ext>
            </a:extLst>
          </p:cNvPr>
          <p:cNvSpPr txBox="1"/>
          <p:nvPr/>
        </p:nvSpPr>
        <p:spPr>
          <a:xfrm>
            <a:off x="8903170" y="5652424"/>
            <a:ext cx="1879652" cy="684803"/>
          </a:xfrm>
          <a:prstGeom prst="rect">
            <a:avLst/>
          </a:prstGeom>
          <a:noFill/>
        </p:spPr>
        <p:txBody>
          <a:bodyPr wrap="square" rtlCol="0" anchor="t">
            <a:spAutoFit/>
          </a:bodyPr>
          <a:lstStyle/>
          <a:p>
            <a:pPr algn="ctr">
              <a:lnSpc>
                <a:spcPct val="110000"/>
              </a:lnSpc>
            </a:pPr>
            <a:r>
              <a:rPr lang="en-US" sz="700" b="1" dirty="0">
                <a:latin typeface="Arial" panose="020B0604020202020204" pitchFamily="34" charset="0"/>
                <a:cs typeface="Arial" panose="020B0604020202020204" pitchFamily="34" charset="0"/>
                <a:sym typeface="+mn-ea"/>
              </a:rPr>
              <a:t>Behavioral preference</a:t>
            </a:r>
          </a:p>
          <a:p>
            <a:pPr algn="ctr">
              <a:lnSpc>
                <a:spcPct val="110000"/>
              </a:lnSpc>
            </a:pPr>
            <a:r>
              <a:rPr lang="en-US" sz="700" dirty="0">
                <a:latin typeface="Arial" panose="020B0604020202020204" pitchFamily="34" charset="0"/>
                <a:cs typeface="Arial" panose="020B0604020202020204" pitchFamily="34" charset="0"/>
                <a:sym typeface="+mn-ea"/>
              </a:rPr>
              <a:t>List of trusted counterparties, previously used counterparties, commonly used </a:t>
            </a:r>
            <a:r>
              <a:rPr lang="en-US" sz="700" dirty="0" err="1">
                <a:latin typeface="Arial" panose="020B0604020202020204" pitchFamily="34" charset="0"/>
                <a:cs typeface="Arial" panose="020B0604020202020204" pitchFamily="34" charset="0"/>
                <a:sym typeface="+mn-ea"/>
              </a:rPr>
              <a:t>IPs</a:t>
            </a:r>
            <a:r>
              <a:rPr lang="en-US" sz="700" dirty="0">
                <a:latin typeface="Arial" panose="020B0604020202020204" pitchFamily="34" charset="0"/>
                <a:cs typeface="Arial" panose="020B0604020202020204" pitchFamily="34" charset="0"/>
                <a:sym typeface="+mn-ea"/>
              </a:rPr>
              <a:t>, commonly used devices, and account signing locations </a:t>
            </a:r>
          </a:p>
        </p:txBody>
      </p:sp>
      <p:sp>
        <p:nvSpPr>
          <p:cNvPr id="92" name="文本框 91">
            <a:extLst>
              <a:ext uri="{FF2B5EF4-FFF2-40B4-BE49-F238E27FC236}">
                <a16:creationId xmlns:a16="http://schemas.microsoft.com/office/drawing/2014/main" id="{42123526-593A-A547-6A4F-2F849A50AE67}"/>
              </a:ext>
            </a:extLst>
          </p:cNvPr>
          <p:cNvSpPr txBox="1"/>
          <p:nvPr/>
        </p:nvSpPr>
        <p:spPr>
          <a:xfrm>
            <a:off x="6171109" y="6142418"/>
            <a:ext cx="2409190" cy="350865"/>
          </a:xfrm>
          <a:prstGeom prst="rect">
            <a:avLst/>
          </a:prstGeom>
          <a:noFill/>
        </p:spPr>
        <p:txBody>
          <a:bodyPr wrap="square" rtlCol="0" anchor="t">
            <a:spAutoFit/>
          </a:bodyPr>
          <a:lstStyle/>
          <a:p>
            <a:pPr algn="ctr">
              <a:lnSpc>
                <a:spcPct val="80000"/>
              </a:lnSpc>
            </a:pPr>
            <a:r>
              <a:rPr lang="en-US" sz="700" b="1" dirty="0">
                <a:latin typeface="Arial" panose="020B0604020202020204" pitchFamily="34" charset="0"/>
                <a:cs typeface="Arial" panose="020B0604020202020204" pitchFamily="34" charset="0"/>
                <a:sym typeface="+mn-ea"/>
              </a:rPr>
              <a:t>Capital flow</a:t>
            </a:r>
          </a:p>
          <a:p>
            <a:pPr algn="ctr">
              <a:lnSpc>
                <a:spcPct val="80000"/>
              </a:lnSpc>
            </a:pPr>
            <a:r>
              <a:rPr lang="en-US" sz="700" dirty="0">
                <a:latin typeface="Arial" panose="020B0604020202020204" pitchFamily="34" charset="0"/>
                <a:cs typeface="Arial" panose="020B0604020202020204" pitchFamily="34" charset="0"/>
                <a:sym typeface="+mn-ea"/>
              </a:rPr>
              <a:t>Name, account ownership, company, individual, bank /other bank</a:t>
            </a:r>
          </a:p>
        </p:txBody>
      </p:sp>
      <p:sp>
        <p:nvSpPr>
          <p:cNvPr id="93" name="文本框 92">
            <a:extLst>
              <a:ext uri="{FF2B5EF4-FFF2-40B4-BE49-F238E27FC236}">
                <a16:creationId xmlns:a16="http://schemas.microsoft.com/office/drawing/2014/main" id="{6350D15A-1F28-FD03-82EF-CED99C7CDBD2}"/>
              </a:ext>
            </a:extLst>
          </p:cNvPr>
          <p:cNvSpPr txBox="1"/>
          <p:nvPr/>
        </p:nvSpPr>
        <p:spPr>
          <a:xfrm>
            <a:off x="2443341" y="6175181"/>
            <a:ext cx="2759710" cy="350865"/>
          </a:xfrm>
          <a:prstGeom prst="rect">
            <a:avLst/>
          </a:prstGeom>
          <a:noFill/>
        </p:spPr>
        <p:txBody>
          <a:bodyPr wrap="square" rtlCol="0" anchor="t">
            <a:spAutoFit/>
          </a:bodyPr>
          <a:lstStyle/>
          <a:p>
            <a:pPr algn="ctr">
              <a:lnSpc>
                <a:spcPct val="80000"/>
              </a:lnSpc>
            </a:pPr>
            <a:r>
              <a:rPr lang="en-US" sz="700" b="1" dirty="0">
                <a:latin typeface="Arial" panose="020B0604020202020204" pitchFamily="34" charset="0"/>
                <a:cs typeface="Arial" panose="020B0604020202020204" pitchFamily="34" charset="0"/>
                <a:sym typeface="+mn-ea"/>
              </a:rPr>
              <a:t>Source of Funds</a:t>
            </a:r>
          </a:p>
          <a:p>
            <a:pPr algn="ctr">
              <a:lnSpc>
                <a:spcPct val="80000"/>
              </a:lnSpc>
            </a:pPr>
            <a:r>
              <a:rPr lang="en-US" sz="700" dirty="0">
                <a:latin typeface="Arial" panose="020B0604020202020204" pitchFamily="34" charset="0"/>
                <a:cs typeface="Arial" panose="020B0604020202020204" pitchFamily="34" charset="0"/>
                <a:sym typeface="+mn-ea"/>
              </a:rPr>
              <a:t>Name, reserved mobile phone, reserved ID card, account return location, signing location, account type</a:t>
            </a:r>
          </a:p>
        </p:txBody>
      </p:sp>
      <p:sp>
        <p:nvSpPr>
          <p:cNvPr id="94" name="文本框 93">
            <a:extLst>
              <a:ext uri="{FF2B5EF4-FFF2-40B4-BE49-F238E27FC236}">
                <a16:creationId xmlns:a16="http://schemas.microsoft.com/office/drawing/2014/main" id="{D72A6DE1-0D93-3008-CFB1-FFB2C5BF231A}"/>
              </a:ext>
            </a:extLst>
          </p:cNvPr>
          <p:cNvSpPr txBox="1"/>
          <p:nvPr/>
        </p:nvSpPr>
        <p:spPr>
          <a:xfrm>
            <a:off x="1154291" y="5837112"/>
            <a:ext cx="2147570" cy="318549"/>
          </a:xfrm>
          <a:prstGeom prst="rect">
            <a:avLst/>
          </a:prstGeom>
          <a:noFill/>
        </p:spPr>
        <p:txBody>
          <a:bodyPr wrap="square" rtlCol="0" anchor="t">
            <a:spAutoFit/>
          </a:bodyPr>
          <a:lstStyle/>
          <a:p>
            <a:pPr algn="ctr">
              <a:lnSpc>
                <a:spcPct val="80000"/>
              </a:lnSpc>
            </a:pPr>
            <a:r>
              <a:rPr lang="en-US" sz="700" b="1" dirty="0">
                <a:latin typeface="Arial" panose="020B0604020202020204" pitchFamily="34" charset="0"/>
                <a:cs typeface="Arial" panose="020B0604020202020204" pitchFamily="34" charset="0"/>
                <a:sym typeface="+mn-ea"/>
              </a:rPr>
              <a:t>Associated bank card</a:t>
            </a:r>
          </a:p>
          <a:p>
            <a:pPr algn="ctr">
              <a:lnSpc>
                <a:spcPct val="130000"/>
              </a:lnSpc>
            </a:pPr>
            <a:r>
              <a:rPr lang="en-US" sz="700" dirty="0">
                <a:latin typeface="Arial" panose="020B0604020202020204" pitchFamily="34" charset="0"/>
                <a:cs typeface="Arial" panose="020B0604020202020204" pitchFamily="34" charset="0"/>
                <a:sym typeface="+mn-ea"/>
              </a:rPr>
              <a:t>Future location and account type</a:t>
            </a:r>
          </a:p>
        </p:txBody>
      </p:sp>
      <p:sp>
        <p:nvSpPr>
          <p:cNvPr id="95" name="文本框 94">
            <a:extLst>
              <a:ext uri="{FF2B5EF4-FFF2-40B4-BE49-F238E27FC236}">
                <a16:creationId xmlns:a16="http://schemas.microsoft.com/office/drawing/2014/main" id="{80611AAE-BE0B-CB2E-A093-BB537D3F3720}"/>
              </a:ext>
            </a:extLst>
          </p:cNvPr>
          <p:cNvSpPr txBox="1"/>
          <p:nvPr/>
        </p:nvSpPr>
        <p:spPr>
          <a:xfrm>
            <a:off x="4521696" y="5007604"/>
            <a:ext cx="804545" cy="138499"/>
          </a:xfrm>
          <a:prstGeom prst="rect">
            <a:avLst/>
          </a:prstGeom>
          <a:noFill/>
          <a:ln w="9525">
            <a:noFill/>
          </a:ln>
        </p:spPr>
        <p:txBody>
          <a:bodyPr wrap="square" lIns="0" tIns="0" rIns="0" bIns="0">
            <a:spAutoFit/>
          </a:bodyPr>
          <a:lstStyle/>
          <a:p>
            <a:pPr marL="12700">
              <a:spcBef>
                <a:spcPts val="95"/>
              </a:spcBef>
            </a:pPr>
            <a:r>
              <a:rPr lang="en-US" sz="900" b="1" dirty="0">
                <a:latin typeface="Arial" panose="020B0604020202020204" pitchFamily="34" charset="0"/>
                <a:cs typeface="Arial" panose="020B0604020202020204" pitchFamily="34" charset="0"/>
              </a:rPr>
              <a:t>Operating IP</a:t>
            </a:r>
            <a:endParaRPr lang="zh-CN" altLang="en-US" sz="900" b="1" dirty="0">
              <a:latin typeface="Arial" panose="020B0604020202020204" pitchFamily="34" charset="0"/>
              <a:cs typeface="Arial" panose="020B0604020202020204" pitchFamily="34" charset="0"/>
            </a:endParaRPr>
          </a:p>
        </p:txBody>
      </p:sp>
      <p:sp>
        <p:nvSpPr>
          <p:cNvPr id="96" name="文本框 95">
            <a:extLst>
              <a:ext uri="{FF2B5EF4-FFF2-40B4-BE49-F238E27FC236}">
                <a16:creationId xmlns:a16="http://schemas.microsoft.com/office/drawing/2014/main" id="{6FF6835B-0585-F2BC-F5E9-B318F49BF9AD}"/>
              </a:ext>
            </a:extLst>
          </p:cNvPr>
          <p:cNvSpPr txBox="1"/>
          <p:nvPr/>
        </p:nvSpPr>
        <p:spPr>
          <a:xfrm>
            <a:off x="5504994" y="5003159"/>
            <a:ext cx="1354137" cy="138499"/>
          </a:xfrm>
          <a:prstGeom prst="rect">
            <a:avLst/>
          </a:prstGeom>
          <a:noFill/>
          <a:ln w="9525">
            <a:noFill/>
          </a:ln>
        </p:spPr>
        <p:txBody>
          <a:bodyPr wrap="square" lIns="0" tIns="0" rIns="0" bIns="0">
            <a:spAutoFit/>
          </a:bodyPr>
          <a:lstStyle>
            <a:defPPr>
              <a:defRPr lang="zh-CN"/>
            </a:defPPr>
            <a:lvl1pPr marL="12700">
              <a:spcBef>
                <a:spcPts val="95"/>
              </a:spcBef>
              <a:defRPr sz="900" b="1">
                <a:latin typeface="Arial" panose="020B0604020202020204" pitchFamily="34" charset="0"/>
                <a:cs typeface="Arial" panose="020B0604020202020204" pitchFamily="34" charset="0"/>
              </a:defRPr>
            </a:lvl1pPr>
          </a:lstStyle>
          <a:p>
            <a:r>
              <a:rPr lang="en-US" dirty="0">
                <a:sym typeface="+mn-ea"/>
              </a:rPr>
              <a:t>Number of transactions</a:t>
            </a:r>
          </a:p>
        </p:txBody>
      </p:sp>
      <p:sp>
        <p:nvSpPr>
          <p:cNvPr id="97" name="文本框 96">
            <a:extLst>
              <a:ext uri="{FF2B5EF4-FFF2-40B4-BE49-F238E27FC236}">
                <a16:creationId xmlns:a16="http://schemas.microsoft.com/office/drawing/2014/main" id="{DAF089A4-7F2E-2686-25F3-BC1AAC3B0B1F}"/>
              </a:ext>
            </a:extLst>
          </p:cNvPr>
          <p:cNvSpPr txBox="1"/>
          <p:nvPr/>
        </p:nvSpPr>
        <p:spPr>
          <a:xfrm>
            <a:off x="4438169" y="5741530"/>
            <a:ext cx="1516088" cy="369332"/>
          </a:xfrm>
          <a:prstGeom prst="rect">
            <a:avLst/>
          </a:prstGeom>
          <a:noFill/>
        </p:spPr>
        <p:txBody>
          <a:bodyPr wrap="square" rtlCol="0">
            <a:spAutoFit/>
          </a:bodyPr>
          <a:lstStyle/>
          <a:p>
            <a:r>
              <a:rPr lang="en-US" sz="900" b="1" dirty="0">
                <a:latin typeface="Arial" panose="020B0604020202020204" pitchFamily="34" charset="0"/>
                <a:cs typeface="Arial" panose="020B0604020202020204" pitchFamily="34" charset="0"/>
              </a:rPr>
              <a:t>Emergency contact </a:t>
            </a:r>
          </a:p>
          <a:p>
            <a:r>
              <a:rPr lang="en-US" sz="900" b="1" dirty="0">
                <a:latin typeface="Arial" panose="020B0604020202020204" pitchFamily="34" charset="0"/>
                <a:cs typeface="Arial" panose="020B0604020202020204" pitchFamily="34" charset="0"/>
              </a:rPr>
              <a:t>Co borrower</a:t>
            </a:r>
          </a:p>
        </p:txBody>
      </p:sp>
      <p:sp>
        <p:nvSpPr>
          <p:cNvPr id="98" name="文本框 97">
            <a:extLst>
              <a:ext uri="{FF2B5EF4-FFF2-40B4-BE49-F238E27FC236}">
                <a16:creationId xmlns:a16="http://schemas.microsoft.com/office/drawing/2014/main" id="{F4A0D6FA-A975-A3CE-304D-C6FBD47CDC5C}"/>
              </a:ext>
            </a:extLst>
          </p:cNvPr>
          <p:cNvSpPr txBox="1"/>
          <p:nvPr/>
        </p:nvSpPr>
        <p:spPr>
          <a:xfrm>
            <a:off x="6053951" y="5867463"/>
            <a:ext cx="1967230" cy="230832"/>
          </a:xfrm>
          <a:prstGeom prst="rect">
            <a:avLst/>
          </a:prstGeom>
          <a:noFill/>
        </p:spPr>
        <p:txBody>
          <a:bodyPr wrap="square" rtlCol="0">
            <a:spAutoFit/>
          </a:bodyPr>
          <a:lstStyle/>
          <a:p>
            <a:pPr algn="l">
              <a:buClrTx/>
              <a:buSzTx/>
              <a:buNone/>
            </a:pPr>
            <a:r>
              <a:rPr lang="en-US" sz="900" b="1" dirty="0">
                <a:latin typeface="Arial" panose="020B0604020202020204" pitchFamily="34" charset="0"/>
                <a:cs typeface="Arial" panose="020B0604020202020204" pitchFamily="34" charset="0"/>
              </a:rPr>
              <a:t>Related diagram information</a:t>
            </a:r>
          </a:p>
        </p:txBody>
      </p:sp>
      <p:pic>
        <p:nvPicPr>
          <p:cNvPr id="4" name="图片 3">
            <a:extLst>
              <a:ext uri="{FF2B5EF4-FFF2-40B4-BE49-F238E27FC236}">
                <a16:creationId xmlns:a16="http://schemas.microsoft.com/office/drawing/2014/main" id="{756C2392-4969-B846-300A-47093E5CBB89}"/>
              </a:ext>
            </a:extLst>
          </p:cNvPr>
          <p:cNvPicPr>
            <a:picLocks noChangeAspect="1"/>
          </p:cNvPicPr>
          <p:nvPr/>
        </p:nvPicPr>
        <p:blipFill>
          <a:blip r:embed="rId3"/>
          <a:stretch>
            <a:fillRect/>
          </a:stretch>
        </p:blipFill>
        <p:spPr>
          <a:xfrm>
            <a:off x="7516010" y="1050324"/>
            <a:ext cx="3418205" cy="2922014"/>
          </a:xfrm>
          <a:prstGeom prst="rect">
            <a:avLst/>
          </a:prstGeom>
        </p:spPr>
      </p:pic>
      <p:sp>
        <p:nvSpPr>
          <p:cNvPr id="76" name="矩形 75">
            <a:extLst>
              <a:ext uri="{FF2B5EF4-FFF2-40B4-BE49-F238E27FC236}">
                <a16:creationId xmlns:a16="http://schemas.microsoft.com/office/drawing/2014/main" id="{35F2E45E-003A-95DF-ED31-82B694806AE3}"/>
              </a:ext>
            </a:extLst>
          </p:cNvPr>
          <p:cNvSpPr/>
          <p:nvPr/>
        </p:nvSpPr>
        <p:spPr>
          <a:xfrm>
            <a:off x="5615116" y="1989935"/>
            <a:ext cx="989748" cy="5872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1000" dirty="0"/>
              <a:t>Suspicious</a:t>
            </a:r>
          </a:p>
          <a:p>
            <a:pPr algn="ctr"/>
            <a:r>
              <a:rPr kumimoji="1" lang="en-US" altLang="zh-CN" sz="1000" dirty="0"/>
              <a:t>Transactions</a:t>
            </a:r>
          </a:p>
        </p:txBody>
      </p:sp>
      <p:pic>
        <p:nvPicPr>
          <p:cNvPr id="107" name="内容占位符 6" descr="图片包含 剪贴画&#10;&#10;描述已自动生成">
            <a:extLst>
              <a:ext uri="{FF2B5EF4-FFF2-40B4-BE49-F238E27FC236}">
                <a16:creationId xmlns:a16="http://schemas.microsoft.com/office/drawing/2014/main" id="{FB0D85FC-0628-4898-C7F0-F6A69A76278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5622" y="356573"/>
            <a:ext cx="547839" cy="782626"/>
          </a:xfrm>
          <a:prstGeom prst="rect">
            <a:avLst/>
          </a:prstGeom>
        </p:spPr>
      </p:pic>
      <p:cxnSp>
        <p:nvCxnSpPr>
          <p:cNvPr id="113" name="直接连接符 10">
            <a:extLst>
              <a:ext uri="{FF2B5EF4-FFF2-40B4-BE49-F238E27FC236}">
                <a16:creationId xmlns:a16="http://schemas.microsoft.com/office/drawing/2014/main" id="{CF0A3BE7-6CE3-D6FC-EC7D-4E5898898F7F}"/>
              </a:ext>
            </a:extLst>
          </p:cNvPr>
          <p:cNvCxnSpPr/>
          <p:nvPr/>
        </p:nvCxnSpPr>
        <p:spPr>
          <a:xfrm>
            <a:off x="1600200" y="1050324"/>
            <a:ext cx="3867664" cy="0"/>
          </a:xfrm>
          <a:prstGeom prst="line">
            <a:avLst/>
          </a:prstGeom>
          <a:ln>
            <a:solidFill>
              <a:srgbClr val="A88237"/>
            </a:solidFill>
          </a:ln>
        </p:spPr>
        <p:style>
          <a:lnRef idx="1">
            <a:schemeClr val="accent1"/>
          </a:lnRef>
          <a:fillRef idx="0">
            <a:schemeClr val="accent1"/>
          </a:fillRef>
          <a:effectRef idx="0">
            <a:schemeClr val="accent1"/>
          </a:effectRef>
          <a:fontRef idx="minor">
            <a:schemeClr val="tx1"/>
          </a:fontRef>
        </p:style>
      </p:cxnSp>
      <p:cxnSp>
        <p:nvCxnSpPr>
          <p:cNvPr id="118" name="直接连接符 11">
            <a:extLst>
              <a:ext uri="{FF2B5EF4-FFF2-40B4-BE49-F238E27FC236}">
                <a16:creationId xmlns:a16="http://schemas.microsoft.com/office/drawing/2014/main" id="{4DF1379E-E7F7-12BD-470C-449588DE7999}"/>
              </a:ext>
            </a:extLst>
          </p:cNvPr>
          <p:cNvCxnSpPr/>
          <p:nvPr/>
        </p:nvCxnSpPr>
        <p:spPr>
          <a:xfrm>
            <a:off x="2684593" y="1112426"/>
            <a:ext cx="3867664" cy="0"/>
          </a:xfrm>
          <a:prstGeom prst="line">
            <a:avLst/>
          </a:prstGeom>
          <a:ln>
            <a:solidFill>
              <a:srgbClr val="013974"/>
            </a:solidFill>
          </a:ln>
        </p:spPr>
        <p:style>
          <a:lnRef idx="1">
            <a:schemeClr val="accent1"/>
          </a:lnRef>
          <a:fillRef idx="0">
            <a:schemeClr val="accent1"/>
          </a:fillRef>
          <a:effectRef idx="0">
            <a:schemeClr val="accent1"/>
          </a:effectRef>
          <a:fontRef idx="minor">
            <a:schemeClr val="tx1"/>
          </a:fontRef>
        </p:style>
      </p:cxnSp>
      <p:sp>
        <p:nvSpPr>
          <p:cNvPr id="125" name="矩形 124">
            <a:extLst>
              <a:ext uri="{FF2B5EF4-FFF2-40B4-BE49-F238E27FC236}">
                <a16:creationId xmlns:a16="http://schemas.microsoft.com/office/drawing/2014/main" id="{C2745C43-B898-8879-78E7-5A23CEDBDFD9}"/>
              </a:ext>
            </a:extLst>
          </p:cNvPr>
          <p:cNvSpPr/>
          <p:nvPr/>
        </p:nvSpPr>
        <p:spPr>
          <a:xfrm>
            <a:off x="0" y="0"/>
            <a:ext cx="12169140" cy="6858000"/>
          </a:xfrm>
          <a:prstGeom prst="rect">
            <a:avLst/>
          </a:prstGeom>
          <a:no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3781346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a:extLst>
              <a:ext uri="{FF2B5EF4-FFF2-40B4-BE49-F238E27FC236}">
                <a16:creationId xmlns:a16="http://schemas.microsoft.com/office/drawing/2014/main" id="{280352F1-F310-DB40-21B1-D1E695275AF1}"/>
              </a:ext>
            </a:extLst>
          </p:cNvPr>
          <p:cNvSpPr>
            <a:spLocks noGrp="1"/>
          </p:cNvSpPr>
          <p:nvPr>
            <p:ph type="title" idx="4294967295"/>
          </p:nvPr>
        </p:nvSpPr>
        <p:spPr>
          <a:xfrm>
            <a:off x="1065926" y="365125"/>
            <a:ext cx="10696575" cy="790575"/>
          </a:xfrm>
          <a:prstGeom prst="rect">
            <a:avLst/>
          </a:prstGeom>
        </p:spPr>
        <p:txBody>
          <a:bodyPr vert="horz" lIns="91440" tIns="45720" rIns="91440" bIns="45720" rtlCol="0" anchor="ctr">
            <a:normAutofit/>
          </a:bodyPr>
          <a:lstStyle/>
          <a:p>
            <a:r>
              <a:rPr kumimoji="1" lang="en-US" sz="2500" dirty="0">
                <a:solidFill>
                  <a:schemeClr val="accent1">
                    <a:lumMod val="50000"/>
                  </a:schemeClr>
                </a:solidFill>
                <a:cs typeface="Arial" panose="020B0604020202020204" pitchFamily="34" charset="0"/>
              </a:rPr>
              <a:t>Model: </a:t>
            </a:r>
            <a:r>
              <a:rPr kumimoji="1" lang="en-US" altLang="zh-CN" sz="2500" dirty="0">
                <a:solidFill>
                  <a:schemeClr val="accent1">
                    <a:lumMod val="50000"/>
                  </a:schemeClr>
                </a:solidFill>
                <a:cs typeface="Arial" panose="020B0604020202020204" pitchFamily="34" charset="0"/>
              </a:rPr>
              <a:t>Anomaly detection with Guided Diffusion Model for Graph Recovery </a:t>
            </a:r>
            <a:endParaRPr kumimoji="1" lang="en-US" sz="2500" dirty="0">
              <a:solidFill>
                <a:schemeClr val="accent1">
                  <a:lumMod val="50000"/>
                </a:schemeClr>
              </a:solidFill>
              <a:cs typeface="Arial" panose="020B0604020202020204" pitchFamily="34" charset="0"/>
            </a:endParaRPr>
          </a:p>
        </p:txBody>
      </p:sp>
      <p:grpSp>
        <p:nvGrpSpPr>
          <p:cNvPr id="3" name="组合 2">
            <a:extLst>
              <a:ext uri="{FF2B5EF4-FFF2-40B4-BE49-F238E27FC236}">
                <a16:creationId xmlns:a16="http://schemas.microsoft.com/office/drawing/2014/main" id="{4C9FECE1-B3D4-49FD-4DB1-C762B26E5F93}"/>
              </a:ext>
            </a:extLst>
          </p:cNvPr>
          <p:cNvGrpSpPr/>
          <p:nvPr/>
        </p:nvGrpSpPr>
        <p:grpSpPr>
          <a:xfrm>
            <a:off x="4043968" y="3574315"/>
            <a:ext cx="7635318" cy="428279"/>
            <a:chOff x="614597" y="5683722"/>
            <a:chExt cx="8219681" cy="645327"/>
          </a:xfrm>
        </p:grpSpPr>
        <p:sp>
          <p:nvSpPr>
            <p:cNvPr id="6" name="矩形 5">
              <a:extLst>
                <a:ext uri="{FF2B5EF4-FFF2-40B4-BE49-F238E27FC236}">
                  <a16:creationId xmlns:a16="http://schemas.microsoft.com/office/drawing/2014/main" id="{79DAA2F7-C6FE-1DC6-0D5D-BC9B93261D8C}"/>
                </a:ext>
              </a:extLst>
            </p:cNvPr>
            <p:cNvSpPr/>
            <p:nvPr/>
          </p:nvSpPr>
          <p:spPr>
            <a:xfrm>
              <a:off x="715326" y="5987388"/>
              <a:ext cx="7509084" cy="34166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D5874582-EAFF-C927-9B93-E9E3135DD52B}"/>
                </a:ext>
              </a:extLst>
            </p:cNvPr>
            <p:cNvSpPr/>
            <p:nvPr/>
          </p:nvSpPr>
          <p:spPr>
            <a:xfrm>
              <a:off x="614597" y="5683722"/>
              <a:ext cx="8219681" cy="331138"/>
            </a:xfrm>
            <a:prstGeom prst="rect">
              <a:avLst/>
            </a:prstGeom>
            <a:solidFill>
              <a:srgbClr val="FFFFFF"/>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grpSp>
      <p:pic>
        <p:nvPicPr>
          <p:cNvPr id="19" name="Picture 2" descr="graph-classification · GitHub Topics · GitHub">
            <a:extLst>
              <a:ext uri="{FF2B5EF4-FFF2-40B4-BE49-F238E27FC236}">
                <a16:creationId xmlns:a16="http://schemas.microsoft.com/office/drawing/2014/main" id="{F95F728F-FD67-2FC9-8705-DB4AD68A6A4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l="3810" t="4127" r="4286" b="4127"/>
          <a:stretch/>
        </p:blipFill>
        <p:spPr bwMode="auto">
          <a:xfrm>
            <a:off x="-11829" y="2062542"/>
            <a:ext cx="3243548" cy="3395867"/>
          </a:xfrm>
          <a:prstGeom prst="ellipse">
            <a:avLst/>
          </a:prstGeom>
          <a:ln>
            <a:solidFill>
              <a:srgbClr val="FF0000"/>
            </a:solidFill>
          </a:ln>
          <a:effectLst>
            <a:softEdge rad="420651"/>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A8F294B1-CD66-6959-91DB-2C769A728A41}"/>
              </a:ext>
            </a:extLst>
          </p:cNvPr>
          <p:cNvSpPr txBox="1"/>
          <p:nvPr/>
        </p:nvSpPr>
        <p:spPr>
          <a:xfrm>
            <a:off x="596430" y="1468770"/>
            <a:ext cx="2021905" cy="646587"/>
          </a:xfrm>
          <a:prstGeom prst="rect">
            <a:avLst/>
          </a:prstGeom>
          <a:solidFill>
            <a:srgbClr val="002FA7"/>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kumimoji="1" lang="en-US" altLang="zh-CN" dirty="0"/>
              <a:t>Partially-observed</a:t>
            </a:r>
          </a:p>
          <a:p>
            <a:pPr algn="ctr"/>
            <a:r>
              <a:rPr kumimoji="1" lang="en-US" altLang="zh-CN" dirty="0"/>
              <a:t>Transaction</a:t>
            </a:r>
            <a:r>
              <a:rPr kumimoji="1" lang="zh-CN" altLang="en-US" dirty="0"/>
              <a:t> </a:t>
            </a:r>
            <a:r>
              <a:rPr kumimoji="1" lang="en-US" altLang="zh-CN" dirty="0"/>
              <a:t>Graph</a:t>
            </a:r>
            <a:endParaRPr kumimoji="1" lang="zh-CN" altLang="en-US" dirty="0"/>
          </a:p>
        </p:txBody>
      </p:sp>
      <p:sp>
        <p:nvSpPr>
          <p:cNvPr id="21" name="椭圆 20">
            <a:extLst>
              <a:ext uri="{FF2B5EF4-FFF2-40B4-BE49-F238E27FC236}">
                <a16:creationId xmlns:a16="http://schemas.microsoft.com/office/drawing/2014/main" id="{5A67257A-7C29-517B-A6B4-9C0F07FE28F6}"/>
              </a:ext>
            </a:extLst>
          </p:cNvPr>
          <p:cNvSpPr/>
          <p:nvPr/>
        </p:nvSpPr>
        <p:spPr>
          <a:xfrm>
            <a:off x="1757978" y="2560892"/>
            <a:ext cx="91749" cy="72321"/>
          </a:xfrm>
          <a:prstGeom prst="ellipse">
            <a:avLst/>
          </a:prstGeom>
          <a:solidFill>
            <a:schemeClr val="bg1">
              <a:alpha val="67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22" name="椭圆 21">
            <a:extLst>
              <a:ext uri="{FF2B5EF4-FFF2-40B4-BE49-F238E27FC236}">
                <a16:creationId xmlns:a16="http://schemas.microsoft.com/office/drawing/2014/main" id="{242ABA08-A86A-F29E-E1BE-8D4955FADCD7}"/>
              </a:ext>
            </a:extLst>
          </p:cNvPr>
          <p:cNvSpPr>
            <a:spLocks noChangeAspect="1"/>
          </p:cNvSpPr>
          <p:nvPr/>
        </p:nvSpPr>
        <p:spPr>
          <a:xfrm>
            <a:off x="1903632" y="2560123"/>
            <a:ext cx="409054" cy="409054"/>
          </a:xfrm>
          <a:prstGeom prst="ellipse">
            <a:avLst/>
          </a:prstGeom>
          <a:noFill/>
          <a:ln w="1905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solidFill>
                <a:srgbClr val="FFFC00"/>
              </a:solidFill>
            </a:endParaRPr>
          </a:p>
        </p:txBody>
      </p:sp>
      <p:cxnSp>
        <p:nvCxnSpPr>
          <p:cNvPr id="23" name="直线连接符 22">
            <a:extLst>
              <a:ext uri="{FF2B5EF4-FFF2-40B4-BE49-F238E27FC236}">
                <a16:creationId xmlns:a16="http://schemas.microsoft.com/office/drawing/2014/main" id="{EF67D7B0-85FD-119B-99DD-D7BF981B9F6A}"/>
              </a:ext>
            </a:extLst>
          </p:cNvPr>
          <p:cNvCxnSpPr>
            <a:cxnSpLocks/>
            <a:stCxn id="22" idx="0"/>
          </p:cNvCxnSpPr>
          <p:nvPr/>
        </p:nvCxnSpPr>
        <p:spPr>
          <a:xfrm flipV="1">
            <a:off x="2108159" y="2242442"/>
            <a:ext cx="1123560" cy="317685"/>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24" name="直线连接符 23">
            <a:extLst>
              <a:ext uri="{FF2B5EF4-FFF2-40B4-BE49-F238E27FC236}">
                <a16:creationId xmlns:a16="http://schemas.microsoft.com/office/drawing/2014/main" id="{0BB289DD-25A6-2BAA-4554-A6294639E76B}"/>
              </a:ext>
            </a:extLst>
          </p:cNvPr>
          <p:cNvCxnSpPr>
            <a:cxnSpLocks/>
            <a:stCxn id="22" idx="4"/>
          </p:cNvCxnSpPr>
          <p:nvPr/>
        </p:nvCxnSpPr>
        <p:spPr>
          <a:xfrm flipV="1">
            <a:off x="2108159" y="2919461"/>
            <a:ext cx="1123560" cy="49716"/>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sp>
        <p:nvSpPr>
          <p:cNvPr id="25" name="箭头: 右 648">
            <a:extLst>
              <a:ext uri="{FF2B5EF4-FFF2-40B4-BE49-F238E27FC236}">
                <a16:creationId xmlns:a16="http://schemas.microsoft.com/office/drawing/2014/main" id="{F5A12B55-D471-80F5-D0F6-5FBB66BA83D4}"/>
              </a:ext>
            </a:extLst>
          </p:cNvPr>
          <p:cNvSpPr/>
          <p:nvPr/>
        </p:nvSpPr>
        <p:spPr>
          <a:xfrm>
            <a:off x="5749162" y="2504582"/>
            <a:ext cx="310146" cy="463897"/>
          </a:xfrm>
          <a:prstGeom prst="rightArrow">
            <a:avLst>
              <a:gd name="adj1" fmla="val 55303"/>
              <a:gd name="adj2" fmla="val 70861"/>
            </a:avLst>
          </a:prstGeom>
          <a:solidFill>
            <a:schemeClr val="tx1">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F2949785-CB5A-9391-2C21-DB238166D19F}"/>
              </a:ext>
            </a:extLst>
          </p:cNvPr>
          <p:cNvSpPr/>
          <p:nvPr/>
        </p:nvSpPr>
        <p:spPr>
          <a:xfrm>
            <a:off x="5602991" y="2610526"/>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E567C2DD-D91A-DFCB-CD1E-22AE5CADAA81}"/>
              </a:ext>
            </a:extLst>
          </p:cNvPr>
          <p:cNvSpPr/>
          <p:nvPr/>
        </p:nvSpPr>
        <p:spPr>
          <a:xfrm>
            <a:off x="5456819" y="2610526"/>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1FFBC2DA-36EB-2DFC-2680-0F82FAE1C7E8}"/>
              </a:ext>
            </a:extLst>
          </p:cNvPr>
          <p:cNvSpPr/>
          <p:nvPr/>
        </p:nvSpPr>
        <p:spPr>
          <a:xfrm>
            <a:off x="5310647" y="2610526"/>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93C23ACC-94B6-56FB-1888-8AA14F06A20B}"/>
              </a:ext>
            </a:extLst>
          </p:cNvPr>
          <p:cNvSpPr/>
          <p:nvPr/>
        </p:nvSpPr>
        <p:spPr>
          <a:xfrm>
            <a:off x="5164475" y="2610526"/>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6F58B91D-F62D-CA5D-CDC8-0C46BC47CFC2}"/>
              </a:ext>
            </a:extLst>
          </p:cNvPr>
          <p:cNvSpPr/>
          <p:nvPr/>
        </p:nvSpPr>
        <p:spPr>
          <a:xfrm>
            <a:off x="5018303" y="2610526"/>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31" name="文本框 30">
            <a:extLst>
              <a:ext uri="{FF2B5EF4-FFF2-40B4-BE49-F238E27FC236}">
                <a16:creationId xmlns:a16="http://schemas.microsoft.com/office/drawing/2014/main" id="{AC6BDCC2-0F33-5004-281F-F2FCAAC82E66}"/>
              </a:ext>
            </a:extLst>
          </p:cNvPr>
          <p:cNvSpPr txBox="1"/>
          <p:nvPr/>
        </p:nvSpPr>
        <p:spPr>
          <a:xfrm>
            <a:off x="4877715" y="2164344"/>
            <a:ext cx="1778733" cy="369460"/>
          </a:xfrm>
          <a:prstGeom prst="rect">
            <a:avLst/>
          </a:prstGeom>
          <a:noFill/>
        </p:spPr>
        <p:txBody>
          <a:bodyPr wrap="square" rtlCol="0">
            <a:spAutoFit/>
          </a:bodyPr>
          <a:lstStyle/>
          <a:p>
            <a:r>
              <a:rPr kumimoji="1" lang="en-US" altLang="zh-CN" dirty="0"/>
              <a:t>Inject</a:t>
            </a:r>
            <a:r>
              <a:rPr kumimoji="1" lang="zh-CN" altLang="en-US" dirty="0"/>
              <a:t> </a:t>
            </a:r>
            <a:r>
              <a:rPr kumimoji="1" lang="en-US" altLang="zh-CN" dirty="0"/>
              <a:t>noise</a:t>
            </a:r>
            <a:endParaRPr kumimoji="1" lang="zh-CN" altLang="en-US" dirty="0"/>
          </a:p>
        </p:txBody>
      </p:sp>
      <p:grpSp>
        <p:nvGrpSpPr>
          <p:cNvPr id="32" name="组合 31">
            <a:extLst>
              <a:ext uri="{FF2B5EF4-FFF2-40B4-BE49-F238E27FC236}">
                <a16:creationId xmlns:a16="http://schemas.microsoft.com/office/drawing/2014/main" id="{FC11B338-1CB2-BE07-3332-1FCF2E29EC48}"/>
              </a:ext>
            </a:extLst>
          </p:cNvPr>
          <p:cNvGrpSpPr/>
          <p:nvPr/>
        </p:nvGrpSpPr>
        <p:grpSpPr>
          <a:xfrm>
            <a:off x="8474538" y="2869051"/>
            <a:ext cx="959303" cy="220722"/>
            <a:chOff x="8075800" y="2488394"/>
            <a:chExt cx="959303" cy="463897"/>
          </a:xfrm>
        </p:grpSpPr>
        <p:sp>
          <p:nvSpPr>
            <p:cNvPr id="33" name="箭头: 右 648">
              <a:extLst>
                <a:ext uri="{FF2B5EF4-FFF2-40B4-BE49-F238E27FC236}">
                  <a16:creationId xmlns:a16="http://schemas.microsoft.com/office/drawing/2014/main" id="{6BD35A6B-73D2-47F6-B9F7-A794E161823B}"/>
                </a:ext>
              </a:extLst>
            </p:cNvPr>
            <p:cNvSpPr/>
            <p:nvPr/>
          </p:nvSpPr>
          <p:spPr>
            <a:xfrm>
              <a:off x="8806659" y="2488394"/>
              <a:ext cx="228444" cy="463897"/>
            </a:xfrm>
            <a:prstGeom prst="rightArrow">
              <a:avLst>
                <a:gd name="adj1" fmla="val 55303"/>
                <a:gd name="adj2" fmla="val 70861"/>
              </a:avLst>
            </a:prstGeom>
            <a:solidFill>
              <a:schemeClr val="tx1">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0E27E648-8DF3-2D92-6B7B-C4A4EBCCD936}"/>
                </a:ext>
              </a:extLst>
            </p:cNvPr>
            <p:cNvSpPr/>
            <p:nvPr/>
          </p:nvSpPr>
          <p:spPr>
            <a:xfrm>
              <a:off x="8660488" y="2594342"/>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B97501D6-C810-978D-75AA-4DE39BED37A2}"/>
                </a:ext>
              </a:extLst>
            </p:cNvPr>
            <p:cNvSpPr/>
            <p:nvPr/>
          </p:nvSpPr>
          <p:spPr>
            <a:xfrm>
              <a:off x="8514316" y="2594342"/>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4FBC21A0-0FDF-A8E8-BF99-3B8BCCE6F204}"/>
                </a:ext>
              </a:extLst>
            </p:cNvPr>
            <p:cNvSpPr/>
            <p:nvPr/>
          </p:nvSpPr>
          <p:spPr>
            <a:xfrm>
              <a:off x="8368144" y="2594342"/>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231F145A-AA22-067C-CFBC-E090B1F57969}"/>
                </a:ext>
              </a:extLst>
            </p:cNvPr>
            <p:cNvSpPr/>
            <p:nvPr/>
          </p:nvSpPr>
          <p:spPr>
            <a:xfrm>
              <a:off x="8221972" y="2594342"/>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B2D08377-132C-902A-6513-B46B2DA84AFD}"/>
                </a:ext>
              </a:extLst>
            </p:cNvPr>
            <p:cNvSpPr/>
            <p:nvPr/>
          </p:nvSpPr>
          <p:spPr>
            <a:xfrm>
              <a:off x="8075800" y="2594342"/>
              <a:ext cx="92262" cy="252000"/>
            </a:xfrm>
            <a:prstGeom prst="rect">
              <a:avLst/>
            </a:prstGeom>
            <a:solidFill>
              <a:schemeClr val="tx1">
                <a:lumMod val="50000"/>
                <a:lumOff val="50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grpSp>
      <p:sp>
        <p:nvSpPr>
          <p:cNvPr id="39" name="圆角右箭头 38">
            <a:extLst>
              <a:ext uri="{FF2B5EF4-FFF2-40B4-BE49-F238E27FC236}">
                <a16:creationId xmlns:a16="http://schemas.microsoft.com/office/drawing/2014/main" id="{6199A7CE-AE83-AE60-D3CA-E2217073D883}"/>
              </a:ext>
            </a:extLst>
          </p:cNvPr>
          <p:cNvSpPr/>
          <p:nvPr/>
        </p:nvSpPr>
        <p:spPr>
          <a:xfrm flipV="1">
            <a:off x="8700006" y="1911066"/>
            <a:ext cx="747719" cy="665464"/>
          </a:xfrm>
          <a:prstGeom prst="bentArrow">
            <a:avLst>
              <a:gd name="adj1" fmla="val 18682"/>
              <a:gd name="adj2" fmla="val 19973"/>
              <a:gd name="adj3" fmla="val 25000"/>
              <a:gd name="adj4" fmla="val 29152"/>
            </a:avLst>
          </a:prstGeom>
          <a:solidFill>
            <a:srgbClr val="00FA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solidFill>
                <a:schemeClr val="tx1"/>
              </a:solidFill>
            </a:endParaRPr>
          </a:p>
        </p:txBody>
      </p:sp>
      <p:sp>
        <p:nvSpPr>
          <p:cNvPr id="40" name="矩形 39">
            <a:extLst>
              <a:ext uri="{FF2B5EF4-FFF2-40B4-BE49-F238E27FC236}">
                <a16:creationId xmlns:a16="http://schemas.microsoft.com/office/drawing/2014/main" id="{B5AC52EE-BA15-DD16-40B7-D1ADD9545DE9}"/>
              </a:ext>
            </a:extLst>
          </p:cNvPr>
          <p:cNvSpPr/>
          <p:nvPr/>
        </p:nvSpPr>
        <p:spPr>
          <a:xfrm>
            <a:off x="9178700" y="2367843"/>
            <a:ext cx="45719"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BB699D12-7DF1-170E-33EC-FE5690FC3188}"/>
              </a:ext>
            </a:extLst>
          </p:cNvPr>
          <p:cNvSpPr/>
          <p:nvPr/>
        </p:nvSpPr>
        <p:spPr>
          <a:xfrm>
            <a:off x="9055617" y="2367842"/>
            <a:ext cx="45719"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EB1A990D-A1A9-4F43-D2BC-E099B58B83C9}"/>
              </a:ext>
            </a:extLst>
          </p:cNvPr>
          <p:cNvSpPr/>
          <p:nvPr/>
        </p:nvSpPr>
        <p:spPr>
          <a:xfrm>
            <a:off x="8932534" y="2367842"/>
            <a:ext cx="45719"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253B96D2-7846-3614-1BD8-835D632E37AF}"/>
              </a:ext>
            </a:extLst>
          </p:cNvPr>
          <p:cNvSpPr/>
          <p:nvPr/>
        </p:nvSpPr>
        <p:spPr>
          <a:xfrm rot="2137908" flipH="1">
            <a:off x="8785623" y="2332802"/>
            <a:ext cx="45881"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86D9C2F1-0067-AE95-958C-6C3AE970B7F7}"/>
              </a:ext>
            </a:extLst>
          </p:cNvPr>
          <p:cNvSpPr/>
          <p:nvPr/>
        </p:nvSpPr>
        <p:spPr>
          <a:xfrm rot="5400000" flipH="1">
            <a:off x="8736062" y="2190994"/>
            <a:ext cx="45881"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D883B52F-E6E5-0613-ED7D-19498BEC6C5C}"/>
              </a:ext>
            </a:extLst>
          </p:cNvPr>
          <p:cNvSpPr/>
          <p:nvPr/>
        </p:nvSpPr>
        <p:spPr>
          <a:xfrm rot="5400000" flipH="1">
            <a:off x="8736062" y="2073365"/>
            <a:ext cx="45881"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6" name="矩形 45">
            <a:extLst>
              <a:ext uri="{FF2B5EF4-FFF2-40B4-BE49-F238E27FC236}">
                <a16:creationId xmlns:a16="http://schemas.microsoft.com/office/drawing/2014/main" id="{483757E0-DF4D-A97D-048A-BCFC658570D6}"/>
              </a:ext>
            </a:extLst>
          </p:cNvPr>
          <p:cNvSpPr/>
          <p:nvPr/>
        </p:nvSpPr>
        <p:spPr>
          <a:xfrm rot="5400000" flipH="1">
            <a:off x="8736062" y="1955737"/>
            <a:ext cx="45881" cy="14877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47" name="椭圆 46">
            <a:extLst>
              <a:ext uri="{FF2B5EF4-FFF2-40B4-BE49-F238E27FC236}">
                <a16:creationId xmlns:a16="http://schemas.microsoft.com/office/drawing/2014/main" id="{3210AE2B-D2F1-FA72-947B-FA9E065E6157}"/>
              </a:ext>
            </a:extLst>
          </p:cNvPr>
          <p:cNvSpPr/>
          <p:nvPr/>
        </p:nvSpPr>
        <p:spPr>
          <a:xfrm>
            <a:off x="6946679" y="3846877"/>
            <a:ext cx="288000" cy="2880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a:t>
            </a:r>
            <a:endParaRPr kumimoji="1" lang="zh-CN" altLang="en-US" dirty="0"/>
          </a:p>
        </p:txBody>
      </p:sp>
      <p:cxnSp>
        <p:nvCxnSpPr>
          <p:cNvPr id="48" name="直线箭头连接符 47">
            <a:extLst>
              <a:ext uri="{FF2B5EF4-FFF2-40B4-BE49-F238E27FC236}">
                <a16:creationId xmlns:a16="http://schemas.microsoft.com/office/drawing/2014/main" id="{26908E0B-B231-8D68-43D2-8C2231CF7767}"/>
              </a:ext>
            </a:extLst>
          </p:cNvPr>
          <p:cNvCxnSpPr>
            <a:stCxn id="47" idx="4"/>
          </p:cNvCxnSpPr>
          <p:nvPr/>
        </p:nvCxnSpPr>
        <p:spPr>
          <a:xfrm>
            <a:off x="7090679" y="4134877"/>
            <a:ext cx="0" cy="31188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9" name="矩形 48">
            <a:extLst>
              <a:ext uri="{FF2B5EF4-FFF2-40B4-BE49-F238E27FC236}">
                <a16:creationId xmlns:a16="http://schemas.microsoft.com/office/drawing/2014/main" id="{97EFA641-23A4-12F9-32E1-6CDE8CCF0B9F}"/>
              </a:ext>
            </a:extLst>
          </p:cNvPr>
          <p:cNvSpPr/>
          <p:nvPr/>
        </p:nvSpPr>
        <p:spPr>
          <a:xfrm>
            <a:off x="2078357" y="3788622"/>
            <a:ext cx="1591567" cy="646076"/>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pic>
        <p:nvPicPr>
          <p:cNvPr id="50" name="Picture 2">
            <a:extLst>
              <a:ext uri="{FF2B5EF4-FFF2-40B4-BE49-F238E27FC236}">
                <a16:creationId xmlns:a16="http://schemas.microsoft.com/office/drawing/2014/main" id="{6C925C6A-CA92-3B64-3693-9850FD35E14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4792" t="48878" r="8634" b="26175"/>
          <a:stretch/>
        </p:blipFill>
        <p:spPr bwMode="auto">
          <a:xfrm>
            <a:off x="3121678" y="3883169"/>
            <a:ext cx="490178" cy="503416"/>
          </a:xfrm>
          <a:prstGeom prst="rect">
            <a:avLst/>
          </a:prstGeom>
          <a:noFill/>
          <a:extLst>
            <a:ext uri="{909E8E84-426E-40DD-AFC4-6F175D3DCCD1}">
              <a14:hiddenFill xmlns:a14="http://schemas.microsoft.com/office/drawing/2010/main">
                <a:solidFill>
                  <a:srgbClr val="FFFFFF"/>
                </a:solidFill>
              </a14:hiddenFill>
            </a:ext>
          </a:extLst>
        </p:spPr>
      </p:pic>
      <p:sp>
        <p:nvSpPr>
          <p:cNvPr id="51" name="文本框 50">
            <a:extLst>
              <a:ext uri="{FF2B5EF4-FFF2-40B4-BE49-F238E27FC236}">
                <a16:creationId xmlns:a16="http://schemas.microsoft.com/office/drawing/2014/main" id="{83E6CA33-41A0-0D61-9069-CB4541E2BFF5}"/>
              </a:ext>
            </a:extLst>
          </p:cNvPr>
          <p:cNvSpPr txBox="1"/>
          <p:nvPr/>
        </p:nvSpPr>
        <p:spPr>
          <a:xfrm>
            <a:off x="2042462" y="3788621"/>
            <a:ext cx="1171314" cy="646332"/>
          </a:xfrm>
          <a:prstGeom prst="rect">
            <a:avLst/>
          </a:prstGeom>
          <a:noFill/>
        </p:spPr>
        <p:txBody>
          <a:bodyPr wrap="square" rtlCol="0">
            <a:spAutoFit/>
          </a:bodyPr>
          <a:lstStyle/>
          <a:p>
            <a:r>
              <a:rPr kumimoji="1" lang="en-US" altLang="zh-CN" dirty="0"/>
              <a:t>Subgraph</a:t>
            </a:r>
            <a:r>
              <a:rPr kumimoji="1" lang="zh-CN" altLang="en-US" dirty="0"/>
              <a:t> </a:t>
            </a:r>
            <a:r>
              <a:rPr kumimoji="1" lang="en-US" altLang="zh-CN" dirty="0"/>
              <a:t>Sampler</a:t>
            </a:r>
            <a:endParaRPr kumimoji="1" lang="zh-CN" altLang="en-US" dirty="0"/>
          </a:p>
        </p:txBody>
      </p:sp>
      <p:sp>
        <p:nvSpPr>
          <p:cNvPr id="52" name="矩形 51">
            <a:extLst>
              <a:ext uri="{FF2B5EF4-FFF2-40B4-BE49-F238E27FC236}">
                <a16:creationId xmlns:a16="http://schemas.microsoft.com/office/drawing/2014/main" id="{0C911CBE-C51B-8201-6204-211D3CB72A43}"/>
              </a:ext>
            </a:extLst>
          </p:cNvPr>
          <p:cNvSpPr/>
          <p:nvPr/>
        </p:nvSpPr>
        <p:spPr>
          <a:xfrm>
            <a:off x="8086213" y="3164431"/>
            <a:ext cx="1591567" cy="646331"/>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kumimoji="1" lang="en-US" altLang="zh-CN" dirty="0"/>
              <a:t>Denoising</a:t>
            </a:r>
          </a:p>
          <a:p>
            <a:r>
              <a:rPr kumimoji="1" lang="en-US" altLang="zh-CN" dirty="0"/>
              <a:t>Network</a:t>
            </a:r>
            <a:endParaRPr kumimoji="1" lang="zh-CN" altLang="en-US" dirty="0"/>
          </a:p>
        </p:txBody>
      </p:sp>
      <p:pic>
        <p:nvPicPr>
          <p:cNvPr id="53" name="图片 52" descr="正方形&#10;&#10;描述已自动生成">
            <a:extLst>
              <a:ext uri="{FF2B5EF4-FFF2-40B4-BE49-F238E27FC236}">
                <a16:creationId xmlns:a16="http://schemas.microsoft.com/office/drawing/2014/main" id="{FAB95A88-3F18-D980-C569-7EAA396EC6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69205" y="3050926"/>
            <a:ext cx="360000" cy="648000"/>
          </a:xfrm>
          <a:prstGeom prst="rect">
            <a:avLst/>
          </a:prstGeom>
          <a:ln>
            <a:solidFill>
              <a:schemeClr val="tx1"/>
            </a:solidFill>
          </a:ln>
        </p:spPr>
      </p:pic>
      <p:pic>
        <p:nvPicPr>
          <p:cNvPr id="54" name="图片 53" descr="图表&#10;&#10;描述已自动生成">
            <a:extLst>
              <a:ext uri="{FF2B5EF4-FFF2-40B4-BE49-F238E27FC236}">
                <a16:creationId xmlns:a16="http://schemas.microsoft.com/office/drawing/2014/main" id="{216AFB23-E038-A8A1-5053-EF5DCEAC8A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64990" y="3109678"/>
            <a:ext cx="360000" cy="648000"/>
          </a:xfrm>
          <a:prstGeom prst="rect">
            <a:avLst/>
          </a:prstGeom>
          <a:ln>
            <a:solidFill>
              <a:schemeClr val="tx1"/>
            </a:solidFill>
          </a:ln>
        </p:spPr>
      </p:pic>
      <p:pic>
        <p:nvPicPr>
          <p:cNvPr id="55" name="图片 54" descr="图片包含 门, 游戏, 游戏机, 建筑&#10;&#10;描述已自动生成">
            <a:extLst>
              <a:ext uri="{FF2B5EF4-FFF2-40B4-BE49-F238E27FC236}">
                <a16:creationId xmlns:a16="http://schemas.microsoft.com/office/drawing/2014/main" id="{297B0E9F-83F7-D1C1-838B-81AC2AB59DA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59619" y="4309002"/>
            <a:ext cx="545604" cy="941379"/>
          </a:xfrm>
          <a:prstGeom prst="rect">
            <a:avLst/>
          </a:prstGeom>
        </p:spPr>
      </p:pic>
      <p:pic>
        <p:nvPicPr>
          <p:cNvPr id="56" name="图片 55">
            <a:extLst>
              <a:ext uri="{FF2B5EF4-FFF2-40B4-BE49-F238E27FC236}">
                <a16:creationId xmlns:a16="http://schemas.microsoft.com/office/drawing/2014/main" id="{EF651B20-42ED-25CE-9E6F-350771D899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89552" y="3050926"/>
            <a:ext cx="360000" cy="648000"/>
          </a:xfrm>
          <a:prstGeom prst="rect">
            <a:avLst/>
          </a:prstGeom>
          <a:ln>
            <a:solidFill>
              <a:schemeClr val="tx1"/>
            </a:solidFill>
          </a:ln>
        </p:spPr>
      </p:pic>
      <p:sp>
        <p:nvSpPr>
          <p:cNvPr id="57" name="文本框 56">
            <a:extLst>
              <a:ext uri="{FF2B5EF4-FFF2-40B4-BE49-F238E27FC236}">
                <a16:creationId xmlns:a16="http://schemas.microsoft.com/office/drawing/2014/main" id="{AF043ADC-5B96-E7DC-D20B-C3176394D770}"/>
              </a:ext>
            </a:extLst>
          </p:cNvPr>
          <p:cNvSpPr txBox="1"/>
          <p:nvPr/>
        </p:nvSpPr>
        <p:spPr>
          <a:xfrm>
            <a:off x="7940219" y="2502366"/>
            <a:ext cx="2581620" cy="369460"/>
          </a:xfrm>
          <a:prstGeom prst="rect">
            <a:avLst/>
          </a:prstGeom>
          <a:noFill/>
        </p:spPr>
        <p:txBody>
          <a:bodyPr wrap="square" rtlCol="0">
            <a:spAutoFit/>
          </a:bodyPr>
          <a:lstStyle/>
          <a:p>
            <a:r>
              <a:rPr kumimoji="1" lang="en-US" altLang="zh-CN" dirty="0"/>
              <a:t>Recover</a:t>
            </a:r>
            <a:r>
              <a:rPr kumimoji="1" lang="zh-CN" altLang="en-US" dirty="0"/>
              <a:t> </a:t>
            </a:r>
            <a:r>
              <a:rPr kumimoji="1" lang="en-US" altLang="zh-CN" dirty="0"/>
              <a:t>with</a:t>
            </a:r>
            <a:r>
              <a:rPr kumimoji="1" lang="zh-CN" altLang="en-US" dirty="0"/>
              <a:t> </a:t>
            </a:r>
            <a:r>
              <a:rPr kumimoji="1" lang="en-US" altLang="zh-CN" dirty="0"/>
              <a:t>guidance</a:t>
            </a:r>
            <a:endParaRPr kumimoji="1" lang="zh-CN" altLang="en-US" dirty="0"/>
          </a:p>
        </p:txBody>
      </p:sp>
      <p:sp>
        <p:nvSpPr>
          <p:cNvPr id="58" name="文本框 57">
            <a:extLst>
              <a:ext uri="{FF2B5EF4-FFF2-40B4-BE49-F238E27FC236}">
                <a16:creationId xmlns:a16="http://schemas.microsoft.com/office/drawing/2014/main" id="{EF83C2A3-4A8C-303C-B0DA-B4A123062479}"/>
              </a:ext>
            </a:extLst>
          </p:cNvPr>
          <p:cNvSpPr txBox="1"/>
          <p:nvPr/>
        </p:nvSpPr>
        <p:spPr>
          <a:xfrm>
            <a:off x="4300726" y="4554704"/>
            <a:ext cx="2933516" cy="369460"/>
          </a:xfrm>
          <a:prstGeom prst="rect">
            <a:avLst/>
          </a:prstGeom>
          <a:noFill/>
        </p:spPr>
        <p:txBody>
          <a:bodyPr wrap="square" rtlCol="0">
            <a:spAutoFit/>
          </a:bodyPr>
          <a:lstStyle/>
          <a:p>
            <a:r>
              <a:rPr kumimoji="1" lang="en-US" altLang="zh-CN" dirty="0"/>
              <a:t>Visualize</a:t>
            </a:r>
            <a:r>
              <a:rPr kumimoji="1" lang="zh-CN" altLang="en-US" dirty="0"/>
              <a:t> </a:t>
            </a:r>
            <a:r>
              <a:rPr kumimoji="1" lang="en-US" altLang="zh-CN" dirty="0"/>
              <a:t>anomaly</a:t>
            </a:r>
            <a:r>
              <a:rPr kumimoji="1" lang="zh-CN" altLang="en-US" dirty="0"/>
              <a:t> </a:t>
            </a:r>
            <a:r>
              <a:rPr kumimoji="1" lang="en-US" altLang="zh-CN" dirty="0"/>
              <a:t>heat</a:t>
            </a:r>
            <a:r>
              <a:rPr kumimoji="1" lang="zh-CN" altLang="en-US" dirty="0"/>
              <a:t> </a:t>
            </a:r>
            <a:r>
              <a:rPr kumimoji="1" lang="en-US" altLang="zh-CN" dirty="0"/>
              <a:t>map</a:t>
            </a:r>
            <a:endParaRPr kumimoji="1" lang="zh-CN" altLang="en-US" dirty="0"/>
          </a:p>
        </p:txBody>
      </p:sp>
      <p:sp>
        <p:nvSpPr>
          <p:cNvPr id="59" name="文本框 58">
            <a:extLst>
              <a:ext uri="{FF2B5EF4-FFF2-40B4-BE49-F238E27FC236}">
                <a16:creationId xmlns:a16="http://schemas.microsoft.com/office/drawing/2014/main" id="{8CA7E784-5C5A-89ED-0C2D-95BB337ABC3B}"/>
              </a:ext>
            </a:extLst>
          </p:cNvPr>
          <p:cNvSpPr txBox="1"/>
          <p:nvPr/>
        </p:nvSpPr>
        <p:spPr>
          <a:xfrm>
            <a:off x="3131225" y="1470599"/>
            <a:ext cx="2021905" cy="369460"/>
          </a:xfrm>
          <a:prstGeom prst="rect">
            <a:avLst/>
          </a:prstGeom>
          <a:solidFill>
            <a:srgbClr val="002FA7"/>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kumimoji="1" lang="en-US" altLang="zh-CN" dirty="0"/>
              <a:t>Original</a:t>
            </a:r>
            <a:r>
              <a:rPr kumimoji="1" lang="zh-CN" altLang="en-US" dirty="0"/>
              <a:t> </a:t>
            </a:r>
            <a:r>
              <a:rPr kumimoji="1" lang="en-US" altLang="zh-CN" dirty="0"/>
              <a:t>Subgraph</a:t>
            </a:r>
            <a:endParaRPr kumimoji="1" lang="zh-CN" altLang="en-US" dirty="0"/>
          </a:p>
        </p:txBody>
      </p:sp>
      <p:sp>
        <p:nvSpPr>
          <p:cNvPr id="60" name="文本框 59">
            <a:extLst>
              <a:ext uri="{FF2B5EF4-FFF2-40B4-BE49-F238E27FC236}">
                <a16:creationId xmlns:a16="http://schemas.microsoft.com/office/drawing/2014/main" id="{A57A9CED-FEFD-524D-2A03-0EECAE73C28C}"/>
              </a:ext>
            </a:extLst>
          </p:cNvPr>
          <p:cNvSpPr txBox="1"/>
          <p:nvPr/>
        </p:nvSpPr>
        <p:spPr>
          <a:xfrm>
            <a:off x="5894189" y="1470599"/>
            <a:ext cx="2021905" cy="369460"/>
          </a:xfrm>
          <a:prstGeom prst="rect">
            <a:avLst/>
          </a:prstGeom>
          <a:solidFill>
            <a:srgbClr val="002FA7"/>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kumimoji="1" lang="en-US" altLang="zh-CN" dirty="0"/>
              <a:t>Noised</a:t>
            </a:r>
            <a:r>
              <a:rPr kumimoji="1" lang="zh-CN" altLang="en-US" dirty="0"/>
              <a:t> </a:t>
            </a:r>
            <a:r>
              <a:rPr kumimoji="1" lang="en-US" altLang="zh-CN" dirty="0"/>
              <a:t>Subgraph</a:t>
            </a:r>
            <a:endParaRPr kumimoji="1" lang="zh-CN" altLang="en-US" dirty="0"/>
          </a:p>
        </p:txBody>
      </p:sp>
      <p:sp>
        <p:nvSpPr>
          <p:cNvPr id="61" name="文本框 60">
            <a:extLst>
              <a:ext uri="{FF2B5EF4-FFF2-40B4-BE49-F238E27FC236}">
                <a16:creationId xmlns:a16="http://schemas.microsoft.com/office/drawing/2014/main" id="{D56DF264-75CA-A1E5-8C6A-389F69CC7AB8}"/>
              </a:ext>
            </a:extLst>
          </p:cNvPr>
          <p:cNvSpPr txBox="1"/>
          <p:nvPr/>
        </p:nvSpPr>
        <p:spPr>
          <a:xfrm>
            <a:off x="9751552" y="1484633"/>
            <a:ext cx="2374662" cy="369460"/>
          </a:xfrm>
          <a:prstGeom prst="rect">
            <a:avLst/>
          </a:prstGeom>
          <a:solidFill>
            <a:srgbClr val="002FA7"/>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kumimoji="1" lang="en-US" altLang="zh-CN" dirty="0"/>
              <a:t>Recovered</a:t>
            </a:r>
            <a:r>
              <a:rPr kumimoji="1" lang="zh-CN" altLang="en-US" dirty="0"/>
              <a:t> </a:t>
            </a:r>
            <a:r>
              <a:rPr kumimoji="1" lang="en-US" altLang="zh-CN" dirty="0"/>
              <a:t>Subgraph</a:t>
            </a:r>
            <a:endParaRPr kumimoji="1" lang="zh-CN" altLang="en-US" dirty="0"/>
          </a:p>
        </p:txBody>
      </p:sp>
      <p:sp>
        <p:nvSpPr>
          <p:cNvPr id="64" name="文本框 63">
            <a:extLst>
              <a:ext uri="{FF2B5EF4-FFF2-40B4-BE49-F238E27FC236}">
                <a16:creationId xmlns:a16="http://schemas.microsoft.com/office/drawing/2014/main" id="{DA571BAA-FDAC-0452-C77C-DD6662FDA7A7}"/>
              </a:ext>
            </a:extLst>
          </p:cNvPr>
          <p:cNvSpPr txBox="1"/>
          <p:nvPr/>
        </p:nvSpPr>
        <p:spPr>
          <a:xfrm>
            <a:off x="4267030" y="3112772"/>
            <a:ext cx="1714386" cy="646587"/>
          </a:xfrm>
          <a:prstGeom prst="rect">
            <a:avLst/>
          </a:prstGeom>
          <a:noFill/>
        </p:spPr>
        <p:txBody>
          <a:bodyPr wrap="square" rtlCol="0">
            <a:spAutoFit/>
          </a:bodyPr>
          <a:lstStyle/>
          <a:p>
            <a:r>
              <a:rPr kumimoji="1" lang="en-US" altLang="zh-CN" dirty="0"/>
              <a:t>Node</a:t>
            </a:r>
          </a:p>
          <a:p>
            <a:r>
              <a:rPr kumimoji="1" lang="en-US" altLang="zh-CN" dirty="0"/>
              <a:t>Attributes</a:t>
            </a:r>
          </a:p>
        </p:txBody>
      </p:sp>
      <p:pic>
        <p:nvPicPr>
          <p:cNvPr id="65" name="图片 64">
            <a:extLst>
              <a:ext uri="{FF2B5EF4-FFF2-40B4-BE49-F238E27FC236}">
                <a16:creationId xmlns:a16="http://schemas.microsoft.com/office/drawing/2014/main" id="{952870F2-02F3-F3CA-69F4-85049C04C2ED}"/>
              </a:ext>
            </a:extLst>
          </p:cNvPr>
          <p:cNvPicPr>
            <a:picLocks noChangeAspect="1"/>
          </p:cNvPicPr>
          <p:nvPr/>
        </p:nvPicPr>
        <p:blipFill>
          <a:blip r:embed="rId10"/>
          <a:stretch>
            <a:fillRect/>
          </a:stretch>
        </p:blipFill>
        <p:spPr>
          <a:xfrm>
            <a:off x="3560408" y="1957810"/>
            <a:ext cx="1077956" cy="984221"/>
          </a:xfrm>
          <a:prstGeom prst="rect">
            <a:avLst/>
          </a:prstGeom>
        </p:spPr>
      </p:pic>
      <p:pic>
        <p:nvPicPr>
          <p:cNvPr id="66" name="图片 65">
            <a:extLst>
              <a:ext uri="{FF2B5EF4-FFF2-40B4-BE49-F238E27FC236}">
                <a16:creationId xmlns:a16="http://schemas.microsoft.com/office/drawing/2014/main" id="{44974CC8-4BC1-32A2-066D-8DA96414E8E1}"/>
              </a:ext>
            </a:extLst>
          </p:cNvPr>
          <p:cNvPicPr>
            <a:picLocks noChangeAspect="1"/>
          </p:cNvPicPr>
          <p:nvPr/>
        </p:nvPicPr>
        <p:blipFill>
          <a:blip r:embed="rId11"/>
          <a:stretch>
            <a:fillRect/>
          </a:stretch>
        </p:blipFill>
        <p:spPr>
          <a:xfrm>
            <a:off x="6314267" y="1957810"/>
            <a:ext cx="1077956" cy="984221"/>
          </a:xfrm>
          <a:prstGeom prst="rect">
            <a:avLst/>
          </a:prstGeom>
        </p:spPr>
      </p:pic>
      <p:pic>
        <p:nvPicPr>
          <p:cNvPr id="67" name="图片 66">
            <a:extLst>
              <a:ext uri="{FF2B5EF4-FFF2-40B4-BE49-F238E27FC236}">
                <a16:creationId xmlns:a16="http://schemas.microsoft.com/office/drawing/2014/main" id="{E6F18A9D-1613-C267-5CA9-9F24E927C268}"/>
              </a:ext>
            </a:extLst>
          </p:cNvPr>
          <p:cNvPicPr>
            <a:picLocks noChangeAspect="1"/>
          </p:cNvPicPr>
          <p:nvPr/>
        </p:nvPicPr>
        <p:blipFill>
          <a:blip r:embed="rId12"/>
          <a:stretch>
            <a:fillRect/>
          </a:stretch>
        </p:blipFill>
        <p:spPr>
          <a:xfrm>
            <a:off x="10451049" y="1951357"/>
            <a:ext cx="1076651" cy="974555"/>
          </a:xfrm>
          <a:prstGeom prst="rect">
            <a:avLst/>
          </a:prstGeom>
        </p:spPr>
      </p:pic>
      <p:pic>
        <p:nvPicPr>
          <p:cNvPr id="68" name="图片 67">
            <a:extLst>
              <a:ext uri="{FF2B5EF4-FFF2-40B4-BE49-F238E27FC236}">
                <a16:creationId xmlns:a16="http://schemas.microsoft.com/office/drawing/2014/main" id="{A9A12F8A-EA23-7C05-624C-66127D3F7345}"/>
              </a:ext>
            </a:extLst>
          </p:cNvPr>
          <p:cNvPicPr>
            <a:picLocks noChangeAspect="1"/>
          </p:cNvPicPr>
          <p:nvPr/>
        </p:nvPicPr>
        <p:blipFill>
          <a:blip r:embed="rId13"/>
          <a:stretch>
            <a:fillRect/>
          </a:stretch>
        </p:blipFill>
        <p:spPr>
          <a:xfrm>
            <a:off x="7234242" y="4277622"/>
            <a:ext cx="1078086" cy="1012463"/>
          </a:xfrm>
          <a:prstGeom prst="rect">
            <a:avLst/>
          </a:prstGeom>
        </p:spPr>
      </p:pic>
      <p:pic>
        <p:nvPicPr>
          <p:cNvPr id="69" name="Picture 6">
            <a:extLst>
              <a:ext uri="{FF2B5EF4-FFF2-40B4-BE49-F238E27FC236}">
                <a16:creationId xmlns:a16="http://schemas.microsoft.com/office/drawing/2014/main" id="{31B8AF5A-8D83-A9C1-133E-C4B196D655B2}"/>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75897" t="56793" r="6842" b="29053"/>
          <a:stretch/>
        </p:blipFill>
        <p:spPr bwMode="auto">
          <a:xfrm>
            <a:off x="9151485" y="3328274"/>
            <a:ext cx="474888" cy="389389"/>
          </a:xfrm>
          <a:prstGeom prst="rect">
            <a:avLst/>
          </a:prstGeom>
          <a:noFill/>
          <a:extLst>
            <a:ext uri="{909E8E84-426E-40DD-AFC4-6F175D3DCCD1}">
              <a14:hiddenFill xmlns:a14="http://schemas.microsoft.com/office/drawing/2010/main">
                <a:solidFill>
                  <a:srgbClr val="FFFFFF"/>
                </a:solidFill>
              </a14:hiddenFill>
            </a:ext>
          </a:extLst>
        </p:spPr>
      </p:pic>
      <p:grpSp>
        <p:nvGrpSpPr>
          <p:cNvPr id="70" name="组合 69">
            <a:extLst>
              <a:ext uri="{FF2B5EF4-FFF2-40B4-BE49-F238E27FC236}">
                <a16:creationId xmlns:a16="http://schemas.microsoft.com/office/drawing/2014/main" id="{29E76C87-414C-86FC-F3DD-FB23915FC00E}"/>
              </a:ext>
            </a:extLst>
          </p:cNvPr>
          <p:cNvGrpSpPr/>
          <p:nvPr/>
        </p:nvGrpSpPr>
        <p:grpSpPr>
          <a:xfrm>
            <a:off x="8070870" y="1484333"/>
            <a:ext cx="1639116" cy="646587"/>
            <a:chOff x="10990699" y="1526125"/>
            <a:chExt cx="1639116" cy="646587"/>
          </a:xfrm>
        </p:grpSpPr>
        <p:sp>
          <p:nvSpPr>
            <p:cNvPr id="71" name="矩形 70">
              <a:extLst>
                <a:ext uri="{FF2B5EF4-FFF2-40B4-BE49-F238E27FC236}">
                  <a16:creationId xmlns:a16="http://schemas.microsoft.com/office/drawing/2014/main" id="{3B260026-3DF8-2E1F-8530-762C93018759}"/>
                </a:ext>
              </a:extLst>
            </p:cNvPr>
            <p:cNvSpPr/>
            <p:nvPr/>
          </p:nvSpPr>
          <p:spPr>
            <a:xfrm>
              <a:off x="10990699" y="1526125"/>
              <a:ext cx="1639116" cy="646331"/>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72" name="文本框 71">
              <a:extLst>
                <a:ext uri="{FF2B5EF4-FFF2-40B4-BE49-F238E27FC236}">
                  <a16:creationId xmlns:a16="http://schemas.microsoft.com/office/drawing/2014/main" id="{FE0E663B-14A0-2297-2838-B9D565F5B99E}"/>
                </a:ext>
              </a:extLst>
            </p:cNvPr>
            <p:cNvSpPr txBox="1"/>
            <p:nvPr/>
          </p:nvSpPr>
          <p:spPr>
            <a:xfrm>
              <a:off x="10990700" y="1526125"/>
              <a:ext cx="1128582" cy="646587"/>
            </a:xfrm>
            <a:prstGeom prst="rect">
              <a:avLst/>
            </a:prstGeom>
            <a:noFill/>
          </p:spPr>
          <p:txBody>
            <a:bodyPr wrap="square" rtlCol="0">
              <a:spAutoFit/>
            </a:bodyPr>
            <a:lstStyle/>
            <a:p>
              <a:r>
                <a:rPr kumimoji="1" lang="en-US" altLang="zh-CN" dirty="0"/>
                <a:t>Guiding</a:t>
              </a:r>
            </a:p>
            <a:p>
              <a:r>
                <a:rPr kumimoji="1" lang="en-US" altLang="zh-CN" dirty="0"/>
                <a:t>Classifier</a:t>
              </a:r>
              <a:endParaRPr kumimoji="1" lang="zh-CN" altLang="en-US" dirty="0"/>
            </a:p>
          </p:txBody>
        </p:sp>
        <p:pic>
          <p:nvPicPr>
            <p:cNvPr id="73" name="Picture 10">
              <a:extLst>
                <a:ext uri="{FF2B5EF4-FFF2-40B4-BE49-F238E27FC236}">
                  <a16:creationId xmlns:a16="http://schemas.microsoft.com/office/drawing/2014/main" id="{AE24B4B6-6667-1D8A-3814-C677366AE09F}"/>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1901" t="42285" r="31600" b="27440"/>
            <a:stretch/>
          </p:blipFill>
          <p:spPr bwMode="auto">
            <a:xfrm>
              <a:off x="12074000" y="1660809"/>
              <a:ext cx="472202" cy="391675"/>
            </a:xfrm>
            <a:prstGeom prst="rect">
              <a:avLst/>
            </a:prstGeom>
            <a:noFill/>
            <a:extLst>
              <a:ext uri="{909E8E84-426E-40DD-AFC4-6F175D3DCCD1}">
                <a14:hiddenFill xmlns:a14="http://schemas.microsoft.com/office/drawing/2010/main">
                  <a:solidFill>
                    <a:srgbClr val="FFFFFF"/>
                  </a:solidFill>
                </a14:hiddenFill>
              </a:ext>
            </a:extLst>
          </p:spPr>
        </p:pic>
      </p:grpSp>
      <p:sp>
        <p:nvSpPr>
          <p:cNvPr id="74" name="文本框 73">
            <a:extLst>
              <a:ext uri="{FF2B5EF4-FFF2-40B4-BE49-F238E27FC236}">
                <a16:creationId xmlns:a16="http://schemas.microsoft.com/office/drawing/2014/main" id="{6A153142-7649-199F-604D-BD1DD2AE5123}"/>
              </a:ext>
            </a:extLst>
          </p:cNvPr>
          <p:cNvSpPr txBox="1"/>
          <p:nvPr/>
        </p:nvSpPr>
        <p:spPr>
          <a:xfrm>
            <a:off x="5859623" y="5802491"/>
            <a:ext cx="6120567" cy="646459"/>
          </a:xfrm>
          <a:prstGeom prst="rect">
            <a:avLst/>
          </a:prstGeom>
          <a:noFill/>
        </p:spPr>
        <p:txBody>
          <a:bodyPr wrap="square" rtlCol="0">
            <a:spAutoFit/>
          </a:bodyPr>
          <a:lstStyle/>
          <a:p>
            <a:r>
              <a:rPr kumimoji="1" lang="en-US" altLang="zh-CN" dirty="0"/>
              <a:t> “</a:t>
            </a:r>
            <a:r>
              <a:rPr lang="en-US" altLang="zh-CN" sz="1800" dirty="0">
                <a:effectLst/>
                <a:latin typeface="LinLibertineT"/>
              </a:rPr>
              <a:t>the reconstruction error of the transaction frequency on the weekend is much larger than other benign accounts”</a:t>
            </a:r>
            <a:endParaRPr kumimoji="1" lang="zh-CN" altLang="en-US" dirty="0"/>
          </a:p>
        </p:txBody>
      </p:sp>
      <p:cxnSp>
        <p:nvCxnSpPr>
          <p:cNvPr id="75" name="直线箭头连接符 74">
            <a:extLst>
              <a:ext uri="{FF2B5EF4-FFF2-40B4-BE49-F238E27FC236}">
                <a16:creationId xmlns:a16="http://schemas.microsoft.com/office/drawing/2014/main" id="{30E79333-CEC0-30B4-CC6D-510032168CE3}"/>
              </a:ext>
            </a:extLst>
          </p:cNvPr>
          <p:cNvCxnSpPr>
            <a:cxnSpLocks/>
          </p:cNvCxnSpPr>
          <p:nvPr/>
        </p:nvCxnSpPr>
        <p:spPr>
          <a:xfrm flipH="1">
            <a:off x="8666841" y="4953860"/>
            <a:ext cx="246213" cy="796184"/>
          </a:xfrm>
          <a:prstGeom prst="straightConnector1">
            <a:avLst/>
          </a:prstGeom>
          <a:ln w="28575">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534F4E56-6684-5277-D31F-35FD3545D87A}"/>
              </a:ext>
            </a:extLst>
          </p:cNvPr>
          <p:cNvSpPr txBox="1"/>
          <p:nvPr/>
        </p:nvSpPr>
        <p:spPr>
          <a:xfrm>
            <a:off x="4137536" y="5940990"/>
            <a:ext cx="1591568" cy="369460"/>
          </a:xfrm>
          <a:prstGeom prst="rect">
            <a:avLst/>
          </a:prstGeom>
          <a:solidFill>
            <a:srgbClr val="002FA7"/>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kumimoji="1" lang="en-US" altLang="zh-CN" dirty="0"/>
              <a:t>Explanation</a:t>
            </a:r>
            <a:endParaRPr kumimoji="1" lang="zh-CN" altLang="en-US" dirty="0"/>
          </a:p>
        </p:txBody>
      </p:sp>
      <p:pic>
        <p:nvPicPr>
          <p:cNvPr id="5" name="内容占位符 6" descr="图片包含 剪贴画&#10;&#10;描述已自动生成">
            <a:extLst>
              <a:ext uri="{FF2B5EF4-FFF2-40B4-BE49-F238E27FC236}">
                <a16:creationId xmlns:a16="http://schemas.microsoft.com/office/drawing/2014/main" id="{7C60C1D4-2AC9-075A-7296-36D1A8DAE220}"/>
              </a:ext>
            </a:extLst>
          </p:cNvPr>
          <p:cNvPicPr>
            <a:picLocks noChangeAspect="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5622" y="356573"/>
            <a:ext cx="547839" cy="782626"/>
          </a:xfrm>
          <a:prstGeom prst="rect">
            <a:avLst/>
          </a:prstGeom>
        </p:spPr>
      </p:pic>
      <p:cxnSp>
        <p:nvCxnSpPr>
          <p:cNvPr id="7" name="直接连接符 10">
            <a:extLst>
              <a:ext uri="{FF2B5EF4-FFF2-40B4-BE49-F238E27FC236}">
                <a16:creationId xmlns:a16="http://schemas.microsoft.com/office/drawing/2014/main" id="{D51D4921-8BD9-7863-BA19-EE4FD923A6FE}"/>
              </a:ext>
            </a:extLst>
          </p:cNvPr>
          <p:cNvCxnSpPr/>
          <p:nvPr/>
        </p:nvCxnSpPr>
        <p:spPr>
          <a:xfrm>
            <a:off x="1600200" y="1050324"/>
            <a:ext cx="3867664" cy="0"/>
          </a:xfrm>
          <a:prstGeom prst="line">
            <a:avLst/>
          </a:prstGeom>
          <a:ln>
            <a:solidFill>
              <a:srgbClr val="A88237"/>
            </a:solidFill>
          </a:ln>
        </p:spPr>
        <p:style>
          <a:lnRef idx="1">
            <a:schemeClr val="accent1"/>
          </a:lnRef>
          <a:fillRef idx="0">
            <a:schemeClr val="accent1"/>
          </a:fillRef>
          <a:effectRef idx="0">
            <a:schemeClr val="accent1"/>
          </a:effectRef>
          <a:fontRef idx="minor">
            <a:schemeClr val="tx1"/>
          </a:fontRef>
        </p:style>
      </p:cxnSp>
      <p:cxnSp>
        <p:nvCxnSpPr>
          <p:cNvPr id="8" name="直接连接符 11">
            <a:extLst>
              <a:ext uri="{FF2B5EF4-FFF2-40B4-BE49-F238E27FC236}">
                <a16:creationId xmlns:a16="http://schemas.microsoft.com/office/drawing/2014/main" id="{18152E28-F2EB-A45B-7F26-EE0A179FF171}"/>
              </a:ext>
            </a:extLst>
          </p:cNvPr>
          <p:cNvCxnSpPr/>
          <p:nvPr/>
        </p:nvCxnSpPr>
        <p:spPr>
          <a:xfrm>
            <a:off x="2049162" y="1112426"/>
            <a:ext cx="3867664" cy="0"/>
          </a:xfrm>
          <a:prstGeom prst="line">
            <a:avLst/>
          </a:prstGeom>
          <a:ln>
            <a:solidFill>
              <a:srgbClr val="013974"/>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AB6A124B-7859-8973-8C74-FE171DD83B72}"/>
              </a:ext>
            </a:extLst>
          </p:cNvPr>
          <p:cNvSpPr/>
          <p:nvPr/>
        </p:nvSpPr>
        <p:spPr>
          <a:xfrm>
            <a:off x="0" y="0"/>
            <a:ext cx="12169140" cy="6858000"/>
          </a:xfrm>
          <a:prstGeom prst="rect">
            <a:avLst/>
          </a:prstGeom>
          <a:no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330768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F8FA74-CB41-161A-738C-28F71B1F96C6}"/>
              </a:ext>
            </a:extLst>
          </p:cNvPr>
          <p:cNvSpPr>
            <a:spLocks noGrp="1"/>
          </p:cNvSpPr>
          <p:nvPr>
            <p:ph type="title" idx="4294967295"/>
          </p:nvPr>
        </p:nvSpPr>
        <p:spPr>
          <a:xfrm>
            <a:off x="1337428" y="365125"/>
            <a:ext cx="9011918" cy="790575"/>
          </a:xfrm>
          <a:prstGeom prst="rect">
            <a:avLst/>
          </a:prstGeom>
        </p:spPr>
        <p:txBody>
          <a:bodyPr vert="horz" lIns="91440" tIns="45720" rIns="91440" bIns="45720" rtlCol="0" anchor="ctr">
            <a:normAutofit/>
          </a:bodyPr>
          <a:lstStyle/>
          <a:p>
            <a:r>
              <a:rPr kumimoji="1" lang="en-US" sz="2500" dirty="0">
                <a:solidFill>
                  <a:schemeClr val="accent1">
                    <a:lumMod val="50000"/>
                  </a:schemeClr>
                </a:solidFill>
                <a:cs typeface="Arial" panose="020B0604020202020204" pitchFamily="34" charset="0"/>
              </a:rPr>
              <a:t>Explanation:</a:t>
            </a:r>
            <a:r>
              <a:rPr kumimoji="1" lang="zh-CN" altLang="en-US" sz="2500" dirty="0">
                <a:solidFill>
                  <a:schemeClr val="accent1">
                    <a:lumMod val="50000"/>
                  </a:schemeClr>
                </a:solidFill>
                <a:cs typeface="Arial" panose="020B0604020202020204" pitchFamily="34" charset="0"/>
              </a:rPr>
              <a:t> </a:t>
            </a:r>
            <a:r>
              <a:rPr kumimoji="1" lang="en-US" sz="2500" dirty="0">
                <a:solidFill>
                  <a:schemeClr val="accent1">
                    <a:lumMod val="50000"/>
                  </a:schemeClr>
                </a:solidFill>
                <a:cs typeface="Arial" panose="020B0604020202020204" pitchFamily="34" charset="0"/>
              </a:rPr>
              <a:t>Using abnormal heat maps as interpretable methods</a:t>
            </a:r>
          </a:p>
        </p:txBody>
      </p:sp>
      <p:pic>
        <p:nvPicPr>
          <p:cNvPr id="21" name="图片 20">
            <a:extLst>
              <a:ext uri="{FF2B5EF4-FFF2-40B4-BE49-F238E27FC236}">
                <a16:creationId xmlns:a16="http://schemas.microsoft.com/office/drawing/2014/main" id="{337AA53C-7F13-612A-E122-38535465D7CC}"/>
              </a:ext>
            </a:extLst>
          </p:cNvPr>
          <p:cNvPicPr>
            <a:picLocks noChangeAspect="1"/>
          </p:cNvPicPr>
          <p:nvPr/>
        </p:nvPicPr>
        <p:blipFill>
          <a:blip r:embed="rId2"/>
          <a:stretch>
            <a:fillRect/>
          </a:stretch>
        </p:blipFill>
        <p:spPr>
          <a:xfrm>
            <a:off x="628784" y="1875637"/>
            <a:ext cx="5568461" cy="2935977"/>
          </a:xfrm>
          <a:prstGeom prst="rect">
            <a:avLst/>
          </a:prstGeom>
        </p:spPr>
      </p:pic>
      <p:graphicFrame>
        <p:nvGraphicFramePr>
          <p:cNvPr id="22" name="表格 21">
            <a:extLst>
              <a:ext uri="{FF2B5EF4-FFF2-40B4-BE49-F238E27FC236}">
                <a16:creationId xmlns:a16="http://schemas.microsoft.com/office/drawing/2014/main" id="{B46B94C5-57E1-8D20-488F-2A9E90F73E8F}"/>
              </a:ext>
            </a:extLst>
          </p:cNvPr>
          <p:cNvGraphicFramePr>
            <a:graphicFrameLocks noGrp="1"/>
          </p:cNvGraphicFramePr>
          <p:nvPr>
            <p:extLst>
              <p:ext uri="{D42A27DB-BD31-4B8C-83A1-F6EECF244321}">
                <p14:modId xmlns:p14="http://schemas.microsoft.com/office/powerpoint/2010/main" val="3572617158"/>
              </p:ext>
            </p:extLst>
          </p:nvPr>
        </p:nvGraphicFramePr>
        <p:xfrm>
          <a:off x="7810891" y="1526472"/>
          <a:ext cx="3677600" cy="4276401"/>
        </p:xfrm>
        <a:graphic>
          <a:graphicData uri="http://schemas.openxmlformats.org/drawingml/2006/table">
            <a:tbl>
              <a:tblPr>
                <a:tableStyleId>{5C22544A-7EE6-4342-B048-85BDC9FD1C3A}</a:tableStyleId>
              </a:tblPr>
              <a:tblGrid>
                <a:gridCol w="3677600">
                  <a:extLst>
                    <a:ext uri="{9D8B030D-6E8A-4147-A177-3AD203B41FA5}">
                      <a16:colId xmlns:a16="http://schemas.microsoft.com/office/drawing/2014/main" val="3961880680"/>
                    </a:ext>
                  </a:extLst>
                </a:gridCol>
              </a:tblGrid>
              <a:tr h="247857">
                <a:tc>
                  <a:txBody>
                    <a:bodyPr/>
                    <a:lstStyle/>
                    <a:p>
                      <a:pPr algn="ctr" fontAlgn="ctr"/>
                      <a:r>
                        <a:rPr lang="en-US" sz="900" u="none" strike="noStrike" dirty="0">
                          <a:latin typeface="Arial" panose="020B0604020202020204" pitchFamily="34" charset="0"/>
                          <a:cs typeface="Arial" panose="020B0604020202020204" pitchFamily="34" charset="0"/>
                        </a:rPr>
                        <a:t>Number of cross-border transactions: </a:t>
                      </a:r>
                      <a:r>
                        <a:rPr lang="en-US" sz="900" u="none" strike="noStrike" dirty="0" err="1">
                          <a:latin typeface="Arial" panose="020B0604020202020204" pitchFamily="34" charset="0"/>
                          <a:cs typeface="Arial" panose="020B0604020202020204" pitchFamily="34" charset="0"/>
                        </a:rPr>
                        <a:t>3m</a:t>
                      </a:r>
                      <a:endParaRPr lang="en-US" sz="900" u="none" strike="noStrike" dirty="0">
                        <a:latin typeface="Arial" panose="020B0604020202020204" pitchFamily="34" charset="0"/>
                        <a:cs typeface="Arial" panose="020B0604020202020204" pitchFamily="34" charset="0"/>
                      </a:endParaRPr>
                    </a:p>
                  </a:txBody>
                  <a:tcPr marL="8058" marR="8058" marT="8058" marB="0" anchor="ctr"/>
                </a:tc>
                <a:extLst>
                  <a:ext uri="{0D108BD9-81ED-4DB2-BD59-A6C34878D82A}">
                    <a16:rowId xmlns:a16="http://schemas.microsoft.com/office/drawing/2014/main" val="1919919114"/>
                  </a:ext>
                </a:extLst>
              </a:tr>
              <a:tr h="247857">
                <a:tc>
                  <a:txBody>
                    <a:bodyPr/>
                    <a:lstStyle/>
                    <a:p>
                      <a:pPr algn="ctr" fontAlgn="ctr"/>
                      <a:r>
                        <a:rPr lang="en-US" sz="900" u="none" strike="noStrike">
                          <a:latin typeface="Arial" panose="020B0604020202020204" pitchFamily="34" charset="0"/>
                          <a:cs typeface="Arial" panose="020B0604020202020204" pitchFamily="34" charset="0"/>
                        </a:rPr>
                        <a:t>Transaction amount: 3m</a:t>
                      </a:r>
                    </a:p>
                  </a:txBody>
                  <a:tcPr marL="8058" marR="8058" marT="8058" marB="0" anchor="ctr"/>
                </a:tc>
                <a:extLst>
                  <a:ext uri="{0D108BD9-81ED-4DB2-BD59-A6C34878D82A}">
                    <a16:rowId xmlns:a16="http://schemas.microsoft.com/office/drawing/2014/main" val="244723385"/>
                  </a:ext>
                </a:extLst>
              </a:tr>
              <a:tr h="247857">
                <a:tc>
                  <a:txBody>
                    <a:bodyPr/>
                    <a:lstStyle/>
                    <a:p>
                      <a:pPr algn="ctr" fontAlgn="ctr"/>
                      <a:r>
                        <a:rPr lang="en-US" sz="900" u="none" strike="noStrike">
                          <a:latin typeface="Arial" panose="020B0604020202020204" pitchFamily="34" charset="0"/>
                          <a:cs typeface="Arial" panose="020B0604020202020204" pitchFamily="34" charset="0"/>
                        </a:rPr>
                        <a:t>Remittance amount (converted to RMB) 3m</a:t>
                      </a:r>
                    </a:p>
                  </a:txBody>
                  <a:tcPr marL="8058" marR="8058" marT="8058" marB="0" anchor="ctr"/>
                </a:tc>
                <a:extLst>
                  <a:ext uri="{0D108BD9-81ED-4DB2-BD59-A6C34878D82A}">
                    <a16:rowId xmlns:a16="http://schemas.microsoft.com/office/drawing/2014/main" val="4006114432"/>
                  </a:ext>
                </a:extLst>
              </a:tr>
              <a:tr h="247857">
                <a:tc>
                  <a:txBody>
                    <a:bodyPr/>
                    <a:lstStyle/>
                    <a:p>
                      <a:pPr algn="ctr" fontAlgn="ctr"/>
                      <a:r>
                        <a:rPr lang="en-US" sz="900" u="none" strike="noStrike">
                          <a:latin typeface="Arial" panose="020B0604020202020204" pitchFamily="34" charset="0"/>
                          <a:cs typeface="Arial" panose="020B0604020202020204" pitchFamily="34" charset="0"/>
                        </a:rPr>
                        <a:t>Local currency cash transaction amount: 3m</a:t>
                      </a:r>
                    </a:p>
                  </a:txBody>
                  <a:tcPr marL="8058" marR="8058" marT="8058" marB="0" anchor="ctr"/>
                </a:tc>
                <a:extLst>
                  <a:ext uri="{0D108BD9-81ED-4DB2-BD59-A6C34878D82A}">
                    <a16:rowId xmlns:a16="http://schemas.microsoft.com/office/drawing/2014/main" val="568571317"/>
                  </a:ext>
                </a:extLst>
              </a:tr>
              <a:tr h="247857">
                <a:tc>
                  <a:txBody>
                    <a:bodyPr/>
                    <a:lstStyle/>
                    <a:p>
                      <a:pPr algn="ctr" fontAlgn="ctr"/>
                      <a:r>
                        <a:rPr lang="en-US" sz="900" u="none" strike="noStrike">
                          <a:latin typeface="Arial" panose="020B0604020202020204" pitchFamily="34" charset="0"/>
                          <a:cs typeface="Arial" panose="020B0604020202020204" pitchFamily="34" charset="0"/>
                        </a:rPr>
                        <a:t>The number of times a single payment in local currency cash reaches 50000 or more is 3m</a:t>
                      </a:r>
                    </a:p>
                  </a:txBody>
                  <a:tcPr marL="8058" marR="8058" marT="8058" marB="0" anchor="ctr"/>
                </a:tc>
                <a:extLst>
                  <a:ext uri="{0D108BD9-81ED-4DB2-BD59-A6C34878D82A}">
                    <a16:rowId xmlns:a16="http://schemas.microsoft.com/office/drawing/2014/main" val="2150746018"/>
                  </a:ext>
                </a:extLst>
              </a:tr>
              <a:tr h="247857">
                <a:tc>
                  <a:txBody>
                    <a:bodyPr/>
                    <a:lstStyle/>
                    <a:p>
                      <a:pPr algn="ctr" fontAlgn="ctr"/>
                      <a:r>
                        <a:rPr lang="en-US" sz="900" u="none" strike="noStrike" dirty="0">
                          <a:latin typeface="Arial" panose="020B0604020202020204" pitchFamily="34" charset="0"/>
                          <a:cs typeface="Arial" panose="020B0604020202020204" pitchFamily="34" charset="0"/>
                        </a:rPr>
                        <a:t>The number of times a single cash transaction in the local currency reaches 50000 or more, with a total of </a:t>
                      </a:r>
                      <a:r>
                        <a:rPr lang="en-US" sz="900" u="none" strike="noStrike" dirty="0" err="1">
                          <a:latin typeface="Arial" panose="020B0604020202020204" pitchFamily="34" charset="0"/>
                          <a:cs typeface="Arial" panose="020B0604020202020204" pitchFamily="34" charset="0"/>
                        </a:rPr>
                        <a:t>3m</a:t>
                      </a:r>
                      <a:endParaRPr lang="en-US" sz="900" u="none" strike="noStrike" dirty="0">
                        <a:latin typeface="Arial" panose="020B0604020202020204" pitchFamily="34" charset="0"/>
                        <a:cs typeface="Arial" panose="020B0604020202020204" pitchFamily="34" charset="0"/>
                      </a:endParaRPr>
                    </a:p>
                  </a:txBody>
                  <a:tcPr marL="8058" marR="8058" marT="8058" marB="0" anchor="ctr"/>
                </a:tc>
                <a:extLst>
                  <a:ext uri="{0D108BD9-81ED-4DB2-BD59-A6C34878D82A}">
                    <a16:rowId xmlns:a16="http://schemas.microsoft.com/office/drawing/2014/main" val="3266907671"/>
                  </a:ext>
                </a:extLst>
              </a:tr>
              <a:tr h="247857">
                <a:tc>
                  <a:txBody>
                    <a:bodyPr/>
                    <a:lstStyle/>
                    <a:p>
                      <a:pPr algn="ctr" fontAlgn="ctr"/>
                      <a:r>
                        <a:rPr lang="en-US" sz="900" u="none" strike="noStrike">
                          <a:latin typeface="Arial" panose="020B0604020202020204" pitchFamily="34" charset="0"/>
                          <a:cs typeface="Arial" panose="020B0604020202020204" pitchFamily="34" charset="0"/>
                        </a:rPr>
                        <a:t>The number of transactions with a single online banking transaction exceeding 50000 is 3m</a:t>
                      </a:r>
                    </a:p>
                  </a:txBody>
                  <a:tcPr marL="8058" marR="8058" marT="8058" marB="0" anchor="ctr"/>
                </a:tc>
                <a:extLst>
                  <a:ext uri="{0D108BD9-81ED-4DB2-BD59-A6C34878D82A}">
                    <a16:rowId xmlns:a16="http://schemas.microsoft.com/office/drawing/2014/main" val="2352832239"/>
                  </a:ext>
                </a:extLst>
              </a:tr>
              <a:tr h="247857">
                <a:tc>
                  <a:txBody>
                    <a:bodyPr/>
                    <a:lstStyle/>
                    <a:p>
                      <a:pPr algn="ctr" fontAlgn="ctr"/>
                      <a:r>
                        <a:rPr lang="en-US" sz="900" u="none" strike="noStrike">
                          <a:latin typeface="Arial" panose="020B0604020202020204" pitchFamily="34" charset="0"/>
                          <a:cs typeface="Arial" panose="020B0604020202020204" pitchFamily="34" charset="0"/>
                        </a:rPr>
                        <a:t>The number of times a single online banking transaction reaches 50000 or more by the payer is 3m</a:t>
                      </a:r>
                    </a:p>
                  </a:txBody>
                  <a:tcPr marL="8058" marR="8058" marT="8058" marB="0" anchor="ctr"/>
                </a:tc>
                <a:extLst>
                  <a:ext uri="{0D108BD9-81ED-4DB2-BD59-A6C34878D82A}">
                    <a16:rowId xmlns:a16="http://schemas.microsoft.com/office/drawing/2014/main" val="3961222755"/>
                  </a:ext>
                </a:extLst>
              </a:tr>
              <a:tr h="247857">
                <a:tc>
                  <a:txBody>
                    <a:bodyPr/>
                    <a:lstStyle/>
                    <a:p>
                      <a:pPr algn="ctr" fontAlgn="ctr"/>
                      <a:r>
                        <a:rPr lang="en-US" sz="900" u="none" strike="noStrike">
                          <a:latin typeface="Arial" panose="020B0604020202020204" pitchFamily="34" charset="0"/>
                          <a:cs typeface="Arial" panose="020B0604020202020204" pitchFamily="34" charset="0"/>
                        </a:rPr>
                        <a:t>The counterparty is in a high-risk area with an amount of 3m</a:t>
                      </a:r>
                    </a:p>
                  </a:txBody>
                  <a:tcPr marL="8058" marR="8058" marT="8058" marB="0" anchor="ctr"/>
                </a:tc>
                <a:extLst>
                  <a:ext uri="{0D108BD9-81ED-4DB2-BD59-A6C34878D82A}">
                    <a16:rowId xmlns:a16="http://schemas.microsoft.com/office/drawing/2014/main" val="3135689786"/>
                  </a:ext>
                </a:extLst>
              </a:tr>
              <a:tr h="247857">
                <a:tc>
                  <a:txBody>
                    <a:bodyPr/>
                    <a:lstStyle/>
                    <a:p>
                      <a:pPr algn="ctr" fontAlgn="ctr"/>
                      <a:r>
                        <a:rPr lang="en-US" sz="900" u="none" strike="noStrike">
                          <a:latin typeface="Arial" panose="020B0604020202020204" pitchFamily="34" charset="0"/>
                          <a:cs typeface="Arial" panose="020B0604020202020204" pitchFamily="34" charset="0"/>
                        </a:rPr>
                        <a:t>The transaction occurred in a high-risk area with a transaction amount of 3m</a:t>
                      </a:r>
                    </a:p>
                  </a:txBody>
                  <a:tcPr marL="8058" marR="8058" marT="8058" marB="0" anchor="ctr"/>
                </a:tc>
                <a:extLst>
                  <a:ext uri="{0D108BD9-81ED-4DB2-BD59-A6C34878D82A}">
                    <a16:rowId xmlns:a16="http://schemas.microsoft.com/office/drawing/2014/main" val="2591471576"/>
                  </a:ext>
                </a:extLst>
              </a:tr>
              <a:tr h="247857">
                <a:tc>
                  <a:txBody>
                    <a:bodyPr/>
                    <a:lstStyle/>
                    <a:p>
                      <a:pPr algn="ctr" fontAlgn="ctr"/>
                      <a:r>
                        <a:rPr lang="en-US" sz="900" u="none" strike="noStrike">
                          <a:latin typeface="Arial" panose="020B0604020202020204" pitchFamily="34" charset="0"/>
                          <a:cs typeface="Arial" panose="020B0604020202020204" pitchFamily="34" charset="0"/>
                        </a:rPr>
                        <a:t>Payment times for a single cash amount of 100000 yuan or more: 3m</a:t>
                      </a:r>
                    </a:p>
                  </a:txBody>
                  <a:tcPr marL="8058" marR="8058" marT="8058" marB="0" anchor="ctr"/>
                </a:tc>
                <a:extLst>
                  <a:ext uri="{0D108BD9-81ED-4DB2-BD59-A6C34878D82A}">
                    <a16:rowId xmlns:a16="http://schemas.microsoft.com/office/drawing/2014/main" val="547146776"/>
                  </a:ext>
                </a:extLst>
              </a:tr>
              <a:tr h="247857">
                <a:tc>
                  <a:txBody>
                    <a:bodyPr/>
                    <a:lstStyle/>
                    <a:p>
                      <a:pPr algn="ctr" fontAlgn="ctr"/>
                      <a:r>
                        <a:rPr lang="en-US" sz="900" u="none" strike="noStrike">
                          <a:latin typeface="Arial" panose="020B0604020202020204" pitchFamily="34" charset="0"/>
                          <a:cs typeface="Arial" panose="020B0604020202020204" pitchFamily="34" charset="0"/>
                        </a:rPr>
                        <a:t>Cash receipts with a single amount of 100000 yuan or more, totaling 3m</a:t>
                      </a:r>
                    </a:p>
                  </a:txBody>
                  <a:tcPr marL="8058" marR="8058" marT="8058" marB="0" anchor="ctr"/>
                </a:tc>
                <a:extLst>
                  <a:ext uri="{0D108BD9-81ED-4DB2-BD59-A6C34878D82A}">
                    <a16:rowId xmlns:a16="http://schemas.microsoft.com/office/drawing/2014/main" val="2275572513"/>
                  </a:ext>
                </a:extLst>
              </a:tr>
              <a:tr h="247857">
                <a:tc>
                  <a:txBody>
                    <a:bodyPr/>
                    <a:lstStyle/>
                    <a:p>
                      <a:pPr algn="ctr" fontAlgn="ctr"/>
                      <a:r>
                        <a:rPr lang="en-US" sz="900" u="none" strike="noStrike" dirty="0">
                          <a:latin typeface="Arial" panose="020B0604020202020204" pitchFamily="34" charset="0"/>
                          <a:cs typeface="Arial" panose="020B0604020202020204" pitchFamily="34" charset="0"/>
                        </a:rPr>
                        <a:t>Multiple private transfers of over 500000 </a:t>
                      </a:r>
                      <a:r>
                        <a:rPr lang="en-US" sz="900" u="none" strike="noStrike" dirty="0" err="1">
                          <a:latin typeface="Arial" panose="020B0604020202020204" pitchFamily="34" charset="0"/>
                          <a:cs typeface="Arial" panose="020B0604020202020204" pitchFamily="34" charset="0"/>
                        </a:rPr>
                        <a:t>yuan</a:t>
                      </a:r>
                      <a:r>
                        <a:rPr lang="en-US" sz="900" u="none" strike="noStrike" dirty="0">
                          <a:latin typeface="Arial" panose="020B0604020202020204" pitchFamily="34" charset="0"/>
                          <a:cs typeface="Arial" panose="020B0604020202020204" pitchFamily="34" charset="0"/>
                        </a:rPr>
                        <a:t> per transaction, with a total of </a:t>
                      </a:r>
                      <a:r>
                        <a:rPr lang="en-US" sz="900" u="none" strike="noStrike" dirty="0" err="1">
                          <a:latin typeface="Arial" panose="020B0604020202020204" pitchFamily="34" charset="0"/>
                          <a:cs typeface="Arial" panose="020B0604020202020204" pitchFamily="34" charset="0"/>
                        </a:rPr>
                        <a:t>3m</a:t>
                      </a:r>
                      <a:endParaRPr lang="en-US" sz="900" u="none" strike="noStrike" dirty="0">
                        <a:latin typeface="Arial" panose="020B0604020202020204" pitchFamily="34" charset="0"/>
                        <a:cs typeface="Arial" panose="020B0604020202020204" pitchFamily="34" charset="0"/>
                      </a:endParaRPr>
                    </a:p>
                  </a:txBody>
                  <a:tcPr marL="8058" marR="8058" marT="8058" marB="0" anchor="ctr"/>
                </a:tc>
                <a:extLst>
                  <a:ext uri="{0D108BD9-81ED-4DB2-BD59-A6C34878D82A}">
                    <a16:rowId xmlns:a16="http://schemas.microsoft.com/office/drawing/2014/main" val="2937134783"/>
                  </a:ext>
                </a:extLst>
              </a:tr>
              <a:tr h="247857">
                <a:tc>
                  <a:txBody>
                    <a:bodyPr/>
                    <a:lstStyle/>
                    <a:p>
                      <a:pPr algn="ctr" fontAlgn="ctr"/>
                      <a:r>
                        <a:rPr lang="en-US" sz="900" u="none" strike="noStrike">
                          <a:latin typeface="Arial" panose="020B0604020202020204" pitchFamily="34" charset="0"/>
                          <a:cs typeface="Arial" panose="020B0604020202020204" pitchFamily="34" charset="0"/>
                        </a:rPr>
                        <a:t>The number of transactions with corporate clients' online banking exceeding 500000 in a single transaction is 3m</a:t>
                      </a:r>
                    </a:p>
                  </a:txBody>
                  <a:tcPr marL="8058" marR="8058" marT="8058" marB="0" anchor="ctr"/>
                </a:tc>
                <a:extLst>
                  <a:ext uri="{0D108BD9-81ED-4DB2-BD59-A6C34878D82A}">
                    <a16:rowId xmlns:a16="http://schemas.microsoft.com/office/drawing/2014/main" val="2540038814"/>
                  </a:ext>
                </a:extLst>
              </a:tr>
              <a:tr h="247857">
                <a:tc>
                  <a:txBody>
                    <a:bodyPr/>
                    <a:lstStyle/>
                    <a:p>
                      <a:pPr algn="ctr" fontAlgn="ctr"/>
                      <a:r>
                        <a:rPr lang="en-US" sz="900" u="none" strike="noStrike">
                          <a:latin typeface="Arial" panose="020B0604020202020204" pitchFamily="34" charset="0"/>
                          <a:cs typeface="Arial" panose="020B0604020202020204" pitchFamily="34" charset="0"/>
                        </a:rPr>
                        <a:t>During the customer rating period, the number of IP logins in high-risk areas was 3m</a:t>
                      </a:r>
                    </a:p>
                  </a:txBody>
                  <a:tcPr marL="8058" marR="8058" marT="8058" marB="0" anchor="ctr"/>
                </a:tc>
                <a:extLst>
                  <a:ext uri="{0D108BD9-81ED-4DB2-BD59-A6C34878D82A}">
                    <a16:rowId xmlns:a16="http://schemas.microsoft.com/office/drawing/2014/main" val="849672740"/>
                  </a:ext>
                </a:extLst>
              </a:tr>
              <a:tr h="247857">
                <a:tc>
                  <a:txBody>
                    <a:bodyPr/>
                    <a:lstStyle/>
                    <a:p>
                      <a:pPr algn="ctr" fontAlgn="ctr"/>
                      <a:r>
                        <a:rPr lang="en-US" sz="900" u="none" strike="noStrike" dirty="0">
                          <a:latin typeface="Arial" panose="020B0604020202020204" pitchFamily="34" charset="0"/>
                          <a:cs typeface="Arial" panose="020B0604020202020204" pitchFamily="34" charset="0"/>
                        </a:rPr>
                        <a:t>During this period, multiple online banking transactions were conducted for different customers using the same IP address</a:t>
                      </a:r>
                    </a:p>
                  </a:txBody>
                  <a:tcPr marL="8058" marR="8058" marT="8058" marB="0" anchor="ctr"/>
                </a:tc>
                <a:extLst>
                  <a:ext uri="{0D108BD9-81ED-4DB2-BD59-A6C34878D82A}">
                    <a16:rowId xmlns:a16="http://schemas.microsoft.com/office/drawing/2014/main" val="4100747522"/>
                  </a:ext>
                </a:extLst>
              </a:tr>
            </a:tbl>
          </a:graphicData>
        </a:graphic>
      </p:graphicFrame>
      <p:sp>
        <p:nvSpPr>
          <p:cNvPr id="23" name="矩形 22">
            <a:extLst>
              <a:ext uri="{FF2B5EF4-FFF2-40B4-BE49-F238E27FC236}">
                <a16:creationId xmlns:a16="http://schemas.microsoft.com/office/drawing/2014/main" id="{2A2C4037-6C0F-0864-D64F-6BF2F645EE3C}"/>
              </a:ext>
            </a:extLst>
          </p:cNvPr>
          <p:cNvSpPr/>
          <p:nvPr/>
        </p:nvSpPr>
        <p:spPr>
          <a:xfrm>
            <a:off x="7666182" y="4933961"/>
            <a:ext cx="3962399"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5" name="肘形连接符 24">
            <a:extLst>
              <a:ext uri="{FF2B5EF4-FFF2-40B4-BE49-F238E27FC236}">
                <a16:creationId xmlns:a16="http://schemas.microsoft.com/office/drawing/2014/main" id="{F1BACEBA-ED5B-F1B5-D3B8-B5549AEAF866}"/>
              </a:ext>
            </a:extLst>
          </p:cNvPr>
          <p:cNvCxnSpPr>
            <a:cxnSpLocks/>
          </p:cNvCxnSpPr>
          <p:nvPr/>
        </p:nvCxnSpPr>
        <p:spPr>
          <a:xfrm>
            <a:off x="1730753" y="3524035"/>
            <a:ext cx="5935429" cy="1555976"/>
          </a:xfrm>
          <a:prstGeom prst="bentConnector3">
            <a:avLst>
              <a:gd name="adj1" fmla="val 30"/>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82EE515C-43FC-4E5C-C612-85A14422A3B6}"/>
              </a:ext>
            </a:extLst>
          </p:cNvPr>
          <p:cNvSpPr txBox="1"/>
          <p:nvPr/>
        </p:nvSpPr>
        <p:spPr>
          <a:xfrm>
            <a:off x="1953716" y="5128616"/>
            <a:ext cx="5640111" cy="307777"/>
          </a:xfrm>
          <a:prstGeom prst="rect">
            <a:avLst/>
          </a:prstGeom>
          <a:noFill/>
        </p:spPr>
        <p:txBody>
          <a:bodyPr wrap="square" rtlCol="0">
            <a:spAutoFit/>
          </a:bodyPr>
          <a:lstStyle/>
          <a:p>
            <a:r>
              <a:rPr kumimoji="1" lang="en-US" sz="1400" dirty="0">
                <a:solidFill>
                  <a:srgbClr val="FF0000"/>
                </a:solidFill>
                <a:latin typeface="Arial" panose="020B0604020202020204" pitchFamily="34" charset="0"/>
                <a:cs typeface="Arial" panose="020B0604020202020204" pitchFamily="34" charset="0"/>
              </a:rPr>
              <a:t>Abnormal feature with high reconstruction error.</a:t>
            </a:r>
          </a:p>
        </p:txBody>
      </p:sp>
      <p:sp>
        <p:nvSpPr>
          <p:cNvPr id="9" name="文本框 8">
            <a:extLst>
              <a:ext uri="{FF2B5EF4-FFF2-40B4-BE49-F238E27FC236}">
                <a16:creationId xmlns:a16="http://schemas.microsoft.com/office/drawing/2014/main" id="{C8B156DE-83AC-67F8-4E27-5BA9520AAEEA}"/>
              </a:ext>
            </a:extLst>
          </p:cNvPr>
          <p:cNvSpPr txBox="1"/>
          <p:nvPr/>
        </p:nvSpPr>
        <p:spPr>
          <a:xfrm>
            <a:off x="2319277" y="1937948"/>
            <a:ext cx="1486827" cy="269365"/>
          </a:xfrm>
          <a:prstGeom prst="rect">
            <a:avLst/>
          </a:prstGeom>
          <a:solidFill>
            <a:schemeClr val="bg1"/>
          </a:solidFill>
        </p:spPr>
        <p:txBody>
          <a:bodyPr wrap="square" lIns="36000" tIns="64800" rIns="36000" bIns="64800" rtlCol="0">
            <a:spAutoFit/>
          </a:bodyPr>
          <a:lstStyle/>
          <a:p>
            <a:pPr algn="ctr"/>
            <a:r>
              <a:rPr kumimoji="1" lang="en-US" sz="900" b="1" dirty="0">
                <a:solidFill>
                  <a:schemeClr val="tx1">
                    <a:lumMod val="75000"/>
                    <a:lumOff val="25000"/>
                  </a:schemeClr>
                </a:solidFill>
                <a:latin typeface="Arial" panose="020B0604020202020204" pitchFamily="34" charset="0"/>
                <a:cs typeface="Arial" panose="020B0604020202020204" pitchFamily="34" charset="0"/>
              </a:rPr>
              <a:t>Account characteristics</a:t>
            </a:r>
          </a:p>
        </p:txBody>
      </p:sp>
      <p:sp>
        <p:nvSpPr>
          <p:cNvPr id="10" name="文本框 9">
            <a:extLst>
              <a:ext uri="{FF2B5EF4-FFF2-40B4-BE49-F238E27FC236}">
                <a16:creationId xmlns:a16="http://schemas.microsoft.com/office/drawing/2014/main" id="{C8B156DE-83AC-67F8-4E27-5BA9520AAEEA}"/>
              </a:ext>
            </a:extLst>
          </p:cNvPr>
          <p:cNvSpPr txBox="1"/>
          <p:nvPr/>
        </p:nvSpPr>
        <p:spPr>
          <a:xfrm>
            <a:off x="655216" y="2887592"/>
            <a:ext cx="349702" cy="1152746"/>
          </a:xfrm>
          <a:prstGeom prst="rect">
            <a:avLst/>
          </a:prstGeom>
          <a:solidFill>
            <a:schemeClr val="bg1"/>
          </a:solidFill>
        </p:spPr>
        <p:txBody>
          <a:bodyPr vert="vert270" wrap="square" lIns="36000" tIns="64800" rIns="36000" bIns="64800" rtlCol="0">
            <a:spAutoFit/>
          </a:bodyPr>
          <a:lstStyle/>
          <a:p>
            <a:pPr algn="ctr"/>
            <a:r>
              <a:rPr kumimoji="1" lang="en-US" sz="900" b="1" dirty="0">
                <a:solidFill>
                  <a:schemeClr val="tx1">
                    <a:lumMod val="75000"/>
                    <a:lumOff val="25000"/>
                  </a:schemeClr>
                </a:solidFill>
                <a:latin typeface="Arial" panose="020B0604020202020204" pitchFamily="34" charset="0"/>
                <a:cs typeface="Arial" panose="020B0604020202020204" pitchFamily="34" charset="0"/>
              </a:rPr>
              <a:t>Account within the sub chart</a:t>
            </a:r>
          </a:p>
        </p:txBody>
      </p:sp>
      <p:sp>
        <p:nvSpPr>
          <p:cNvPr id="11" name="文本框 10">
            <a:extLst>
              <a:ext uri="{FF2B5EF4-FFF2-40B4-BE49-F238E27FC236}">
                <a16:creationId xmlns:a16="http://schemas.microsoft.com/office/drawing/2014/main" id="{C8B156DE-83AC-67F8-4E27-5BA9520AAEEA}"/>
              </a:ext>
            </a:extLst>
          </p:cNvPr>
          <p:cNvSpPr txBox="1"/>
          <p:nvPr/>
        </p:nvSpPr>
        <p:spPr>
          <a:xfrm>
            <a:off x="5437065" y="2047485"/>
            <a:ext cx="361351" cy="184666"/>
          </a:xfrm>
          <a:prstGeom prst="rect">
            <a:avLst/>
          </a:prstGeom>
          <a:solidFill>
            <a:schemeClr val="bg1"/>
          </a:solidFill>
        </p:spPr>
        <p:txBody>
          <a:bodyPr wrap="square" lIns="0" tIns="0" rIns="0" bIns="0" rtlCol="0">
            <a:spAutoFit/>
          </a:bodyPr>
          <a:lstStyle/>
          <a:p>
            <a:pPr algn="ctr"/>
            <a:r>
              <a:rPr kumimoji="1" lang="en-US" sz="600" dirty="0">
                <a:solidFill>
                  <a:schemeClr val="tx1">
                    <a:lumMod val="75000"/>
                    <a:lumOff val="25000"/>
                  </a:schemeClr>
                </a:solidFill>
                <a:latin typeface="Arial" panose="020B0604020202020204" pitchFamily="34" charset="0"/>
                <a:cs typeface="Arial" panose="020B0604020202020204" pitchFamily="34" charset="0"/>
              </a:rPr>
              <a:t>True value</a:t>
            </a:r>
          </a:p>
        </p:txBody>
      </p:sp>
      <p:sp>
        <p:nvSpPr>
          <p:cNvPr id="12" name="文本框 11">
            <a:extLst>
              <a:ext uri="{FF2B5EF4-FFF2-40B4-BE49-F238E27FC236}">
                <a16:creationId xmlns:a16="http://schemas.microsoft.com/office/drawing/2014/main" id="{C8B156DE-83AC-67F8-4E27-5BA9520AAEEA}"/>
              </a:ext>
            </a:extLst>
          </p:cNvPr>
          <p:cNvSpPr txBox="1"/>
          <p:nvPr/>
        </p:nvSpPr>
        <p:spPr>
          <a:xfrm>
            <a:off x="5817155" y="2047485"/>
            <a:ext cx="361351" cy="184666"/>
          </a:xfrm>
          <a:prstGeom prst="rect">
            <a:avLst/>
          </a:prstGeom>
          <a:solidFill>
            <a:schemeClr val="bg1"/>
          </a:solidFill>
        </p:spPr>
        <p:txBody>
          <a:bodyPr wrap="square" lIns="0" tIns="0" rIns="0" bIns="0" rtlCol="0">
            <a:spAutoFit/>
          </a:bodyPr>
          <a:lstStyle/>
          <a:p>
            <a:pPr algn="ctr"/>
            <a:r>
              <a:rPr kumimoji="1" lang="en-US" sz="600" dirty="0">
                <a:solidFill>
                  <a:schemeClr val="tx1">
                    <a:lumMod val="75000"/>
                    <a:lumOff val="25000"/>
                  </a:schemeClr>
                </a:solidFill>
                <a:latin typeface="Arial" panose="020B0604020202020204" pitchFamily="34" charset="0"/>
                <a:cs typeface="Arial" panose="020B0604020202020204" pitchFamily="34" charset="0"/>
              </a:rPr>
              <a:t>Predictive value</a:t>
            </a:r>
          </a:p>
        </p:txBody>
      </p:sp>
      <p:pic>
        <p:nvPicPr>
          <p:cNvPr id="5" name="内容占位符 6" descr="图片包含 剪贴画&#10;&#10;描述已自动生成">
            <a:extLst>
              <a:ext uri="{FF2B5EF4-FFF2-40B4-BE49-F238E27FC236}">
                <a16:creationId xmlns:a16="http://schemas.microsoft.com/office/drawing/2014/main" id="{5B026D4A-AE93-51C4-6D55-37D4AC574A8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5622" y="356573"/>
            <a:ext cx="547839" cy="782626"/>
          </a:xfrm>
          <a:prstGeom prst="rect">
            <a:avLst/>
          </a:prstGeom>
        </p:spPr>
      </p:pic>
      <p:cxnSp>
        <p:nvCxnSpPr>
          <p:cNvPr id="6" name="直接连接符 10">
            <a:extLst>
              <a:ext uri="{FF2B5EF4-FFF2-40B4-BE49-F238E27FC236}">
                <a16:creationId xmlns:a16="http://schemas.microsoft.com/office/drawing/2014/main" id="{78798794-598F-299B-3EBA-CB3393BDC038}"/>
              </a:ext>
            </a:extLst>
          </p:cNvPr>
          <p:cNvCxnSpPr/>
          <p:nvPr/>
        </p:nvCxnSpPr>
        <p:spPr>
          <a:xfrm>
            <a:off x="1600200" y="1050324"/>
            <a:ext cx="3867664" cy="0"/>
          </a:xfrm>
          <a:prstGeom prst="line">
            <a:avLst/>
          </a:prstGeom>
          <a:ln>
            <a:solidFill>
              <a:srgbClr val="A88237"/>
            </a:solidFill>
          </a:ln>
        </p:spPr>
        <p:style>
          <a:lnRef idx="1">
            <a:schemeClr val="accent1"/>
          </a:lnRef>
          <a:fillRef idx="0">
            <a:schemeClr val="accent1"/>
          </a:fillRef>
          <a:effectRef idx="0">
            <a:schemeClr val="accent1"/>
          </a:effectRef>
          <a:fontRef idx="minor">
            <a:schemeClr val="tx1"/>
          </a:fontRef>
        </p:style>
      </p:cxnSp>
      <p:cxnSp>
        <p:nvCxnSpPr>
          <p:cNvPr id="7" name="直接连接符 11">
            <a:extLst>
              <a:ext uri="{FF2B5EF4-FFF2-40B4-BE49-F238E27FC236}">
                <a16:creationId xmlns:a16="http://schemas.microsoft.com/office/drawing/2014/main" id="{42EF87C2-AD2C-EBBF-373E-39B2AFD6BAB3}"/>
              </a:ext>
            </a:extLst>
          </p:cNvPr>
          <p:cNvCxnSpPr/>
          <p:nvPr/>
        </p:nvCxnSpPr>
        <p:spPr>
          <a:xfrm>
            <a:off x="2049162" y="1112426"/>
            <a:ext cx="3867664" cy="0"/>
          </a:xfrm>
          <a:prstGeom prst="line">
            <a:avLst/>
          </a:prstGeom>
          <a:ln>
            <a:solidFill>
              <a:srgbClr val="013974"/>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70694EC2-BAC7-9977-2929-551AEC21B7C6}"/>
              </a:ext>
            </a:extLst>
          </p:cNvPr>
          <p:cNvSpPr/>
          <p:nvPr/>
        </p:nvSpPr>
        <p:spPr>
          <a:xfrm>
            <a:off x="0" y="0"/>
            <a:ext cx="12169140" cy="6858000"/>
          </a:xfrm>
          <a:prstGeom prst="rect">
            <a:avLst/>
          </a:prstGeom>
          <a:no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1114163638"/>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7000"/>
          </a:schemeClr>
        </a:solidFill>
        <a:ln>
          <a:noFill/>
        </a:ln>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7000"/>
          </a:schemeClr>
        </a:solidFill>
        <a:ln>
          <a:noFill/>
        </a:ln>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7000"/>
          </a:schemeClr>
        </a:solidFill>
        <a:ln>
          <a:noFill/>
        </a:ln>
      </a:spPr>
      <a:bodyPr rtlCol="0" anchor="ctr"/>
      <a:lstStyle>
        <a:defPPr algn="ctr">
          <a:defRPr kumimoji="1"/>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7000"/>
          </a:schemeClr>
        </a:solidFill>
        <a:ln>
          <a:noFill/>
        </a:ln>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130502</TotalTime>
  <Words>774</Words>
  <Application>Microsoft Macintosh PowerPoint</Application>
  <PresentationFormat>宽屏</PresentationFormat>
  <Paragraphs>100</Paragraphs>
  <Slides>3</Slides>
  <Notes>2</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3</vt:i4>
      </vt:variant>
    </vt:vector>
  </HeadingPairs>
  <TitlesOfParts>
    <vt:vector size="15" baseType="lpstr">
      <vt:lpstr>等线</vt:lpstr>
      <vt:lpstr>微软雅黑</vt:lpstr>
      <vt:lpstr>微软雅黑 Light</vt:lpstr>
      <vt:lpstr>LinLibertineT</vt:lpstr>
      <vt:lpstr>LinLibertineTB</vt:lpstr>
      <vt:lpstr>Arial</vt:lpstr>
      <vt:lpstr>Calibri</vt:lpstr>
      <vt:lpstr>1_Office 主题</vt:lpstr>
      <vt:lpstr>自定义设计方案</vt:lpstr>
      <vt:lpstr>2_Office 主题</vt:lpstr>
      <vt:lpstr>3_Office 主题</vt:lpstr>
      <vt:lpstr>4_Office 主题</vt:lpstr>
      <vt:lpstr>Task, Graph and Features of Anti-Money Laundering</vt:lpstr>
      <vt:lpstr>Model: Anomaly detection with Guided Diffusion Model for Graph Recovery </vt:lpstr>
      <vt:lpstr>Explanation: Using abnormal heat maps as interpretable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完善的支持</dc:title>
  <dc:creator>Zheng, Liwei (DI SW GS&amp;CS AP CN PRSLS MMP)</dc:creator>
  <cp:lastModifiedBy>LI Xujia</cp:lastModifiedBy>
  <cp:revision>1473</cp:revision>
  <dcterms:created xsi:type="dcterms:W3CDTF">2019-12-06T02:03:00Z</dcterms:created>
  <dcterms:modified xsi:type="dcterms:W3CDTF">2026-06-29T15:02:21Z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